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61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FFD8"/>
    <a:srgbClr val="315DEA"/>
    <a:srgbClr val="97DBF2"/>
    <a:srgbClr val="DE9E66"/>
    <a:srgbClr val="EEF1A0"/>
    <a:srgbClr val="D68589"/>
    <a:srgbClr val="828282"/>
    <a:srgbClr val="FBE2D5"/>
    <a:srgbClr val="C0E6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EB815-7EE2-6F56-EEAD-EEA7BD7ED3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C74FF8-7F58-A2B3-DA4B-0507AC2A6A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383D8E-D3F1-2E49-E05D-5CB57821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B2DEE-4073-4C8E-890A-9D2AA0704961}" type="datetimeFigureOut">
              <a:rPr lang="en-US" smtClean="0"/>
              <a:t>19-Jul-26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FD6074-401C-295E-B4EA-362B40CD8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2AC1A9-C3C4-8D4F-E16F-E206D984E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0CF8E0-31C8-49AA-9E1C-2E8E599B6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38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4B1D6-9ABA-249B-BFCE-CC91B5211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361EA-69F5-E001-6ADC-2F28304B5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FE880B-8F86-6E67-BA0C-6AB8A9BF2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B2DEE-4073-4C8E-890A-9D2AA0704961}" type="datetimeFigureOut">
              <a:rPr lang="en-US" smtClean="0"/>
              <a:t>19-Jul-26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B7C06C-5470-307A-38F5-B5EFD2848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859FFC-6501-7E1E-19BB-1783E5C06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0CF8E0-31C8-49AA-9E1C-2E8E599B6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6906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F6273-4927-9166-9E5C-F28A75171B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A5C097-5C40-4C8D-8F24-428F559A4A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924006-D92A-6FFF-8BB2-147817D6D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B2DEE-4073-4C8E-890A-9D2AA0704961}" type="datetimeFigureOut">
              <a:rPr lang="en-US" smtClean="0"/>
              <a:t>19-Jul-26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76EB2D-6C75-ACF8-851A-F35D2DD22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2B6C61-3FBB-BCE0-6C78-AD7E15EB6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0CF8E0-31C8-49AA-9E1C-2E8E599B6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599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78F5A-E028-0AFC-17BB-F08E1473A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3B9A8-9208-9984-2ADB-AA77A1EC24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FF6B01-57FF-98FB-D953-DF961E8027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3C1D53-4FC8-69E2-115E-832FDF317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B2DEE-4073-4C8E-890A-9D2AA0704961}" type="datetimeFigureOut">
              <a:rPr lang="en-US" smtClean="0"/>
              <a:t>19-Jul-26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17139-E781-294B-A67C-D6BFE5EEF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2F636-1BEA-88CA-53B9-FD71F6F16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0CF8E0-31C8-49AA-9E1C-2E8E599B6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801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97301-3331-F3BD-9FEA-1782641918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0FD38B-1455-7171-E06D-7B7DEDBB70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8B174D-6114-0EDA-9B52-6F2EAA28D6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1B4FF1-718A-3C7E-B3F6-2454EC2071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CCBAFE-6EB0-13B8-4055-EAD664D956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79A2B2-9514-999A-97FB-1D0F17D5E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B2DEE-4073-4C8E-890A-9D2AA0704961}" type="datetimeFigureOut">
              <a:rPr lang="en-US" smtClean="0"/>
              <a:t>19-Jul-26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77984D-B449-2D1B-B88B-F7C6C0A56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350A47-4A74-6CD4-A46C-B3ACA88A7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0CF8E0-31C8-49AA-9E1C-2E8E599B6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163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9E36B-3459-3777-565C-A4E200AA2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BF6A4D-5FB5-0D27-534F-BBB51EA0F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B2DEE-4073-4C8E-890A-9D2AA0704961}" type="datetimeFigureOut">
              <a:rPr lang="en-US" smtClean="0"/>
              <a:t>19-Jul-26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1F6CDF-62D1-9D2B-C9B5-A4D81836F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2309A1-46FF-6AD5-5BE8-7A8F2B223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0CF8E0-31C8-49AA-9E1C-2E8E599B6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345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BB33C4-C0A4-035A-6D0B-5FA94F2CD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B2DEE-4073-4C8E-890A-9D2AA0704961}" type="datetimeFigureOut">
              <a:rPr lang="en-US" smtClean="0"/>
              <a:t>19-Jul-26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7B51CC-CBEE-DEE2-5F82-99093359F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15C21-1581-7D15-4354-8301A034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0CF8E0-31C8-49AA-9E1C-2E8E599B6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0130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330FC-19EF-321D-D6F4-52E03D244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252091-4C64-2AF0-94D2-27DB77875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6A15E7-F954-70E3-3628-63FCD14952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27AF74-713C-F5BB-FCC6-18C489850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B2DEE-4073-4C8E-890A-9D2AA0704961}" type="datetimeFigureOut">
              <a:rPr lang="en-US" smtClean="0"/>
              <a:t>19-Jul-26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4B452C-7C56-9CB5-3C68-4101BC4A8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67E1E4-E56B-1DF7-30D6-217F4846E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0CF8E0-31C8-49AA-9E1C-2E8E599B6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270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08459-204E-29E4-98B1-3A1EC4CE1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0ACE77-EF6D-F0A5-D833-E3A68A5F00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FD2846-DB69-C0DE-A4DF-68F3EA96E0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8B5B0A-DB11-B082-87FE-B01AB5BDC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B2DEE-4073-4C8E-890A-9D2AA0704961}" type="datetimeFigureOut">
              <a:rPr lang="en-US" smtClean="0"/>
              <a:t>19-Jul-26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15529B-E071-A8CE-8071-73D560F5E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5F612A-DA7D-DEB3-F4A1-3B0161C36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0CF8E0-31C8-49AA-9E1C-2E8E599B6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106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57746-2DDE-2882-7879-3F7A6B597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CF5CAE-8817-7C78-847E-1BA6D7B16C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9981E0-01B7-17C4-D1E9-430F5864A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B2DEE-4073-4C8E-890A-9D2AA0704961}" type="datetimeFigureOut">
              <a:rPr lang="en-US" smtClean="0"/>
              <a:t>19-Jul-26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339B13-E116-68B5-77F4-27AA7B3F6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26ED00-DC53-B1DE-E541-F051F6D2A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0CF8E0-31C8-49AA-9E1C-2E8E599B6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403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60BA426-5F7C-7F6A-B9E5-25762F079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D53DC1-63CA-B216-7049-3917798B43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B8560C-FAA8-B3E7-3D84-6E8B6A888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B2DEE-4073-4C8E-890A-9D2AA0704961}" type="datetimeFigureOut">
              <a:rPr lang="en-US" smtClean="0"/>
              <a:t>19-Jul-26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DC37F-AC24-CE6E-2BED-3C82D3D6A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A2573-C513-3218-F359-67820ADC9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0CF8E0-31C8-49AA-9E1C-2E8E599B6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127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A2A215-CC25-97F4-7060-CFE631DA2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9B5A26-A930-3E97-9949-D35BA16B91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B6FB9-22CF-BA52-3886-AC20502F96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5B2DEE-4073-4C8E-890A-9D2AA0704961}" type="datetimeFigureOut">
              <a:rPr lang="en-US" smtClean="0"/>
              <a:t>19-Jul-26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4B266A-A1DD-6E4C-8469-7A013A17D1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1FA1E0-ACEA-490D-7524-520ECE5170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0CF8E0-31C8-49AA-9E1C-2E8E599B6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99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emf"/><Relationship Id="rId4" Type="http://schemas.openxmlformats.org/officeDocument/2006/relationships/image" Target="../media/image12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emf"/><Relationship Id="rId5" Type="http://schemas.openxmlformats.org/officeDocument/2006/relationships/image" Target="../media/image13.emf"/><Relationship Id="rId4" Type="http://schemas.openxmlformats.org/officeDocument/2006/relationships/image" Target="../media/image12.em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jpeg"/><Relationship Id="rId5" Type="http://schemas.openxmlformats.org/officeDocument/2006/relationships/image" Target="../media/image18.jpeg"/><Relationship Id="rId4" Type="http://schemas.openxmlformats.org/officeDocument/2006/relationships/image" Target="../media/image17.jpe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jpeg"/><Relationship Id="rId3" Type="http://schemas.openxmlformats.org/officeDocument/2006/relationships/image" Target="../media/image21.jpeg"/><Relationship Id="rId7" Type="http://schemas.openxmlformats.org/officeDocument/2006/relationships/image" Target="../media/image25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jpeg"/><Relationship Id="rId5" Type="http://schemas.openxmlformats.org/officeDocument/2006/relationships/image" Target="../media/image23.jpeg"/><Relationship Id="rId4" Type="http://schemas.openxmlformats.org/officeDocument/2006/relationships/image" Target="../media/image22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9EB5808-A42C-5446-BE2A-E7862C5B2F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871537"/>
            <a:ext cx="3448050" cy="38766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911E9A6-CA55-F723-439B-3042010411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650" y="871537"/>
            <a:ext cx="3448050" cy="38766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F7F885E-0DE5-47CB-C071-B3066E1405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3900" y="871537"/>
            <a:ext cx="3448050" cy="387667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9AFFE3A-D87A-39C7-4ADC-F161A6827977}"/>
              </a:ext>
            </a:extLst>
          </p:cNvPr>
          <p:cNvSpPr txBox="1"/>
          <p:nvPr/>
        </p:nvSpPr>
        <p:spPr>
          <a:xfrm>
            <a:off x="1929450" y="502205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DSM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E073D8-8DAD-2EFA-91CF-B8167780FD6A}"/>
              </a:ext>
            </a:extLst>
          </p:cNvPr>
          <p:cNvSpPr txBox="1"/>
          <p:nvPr/>
        </p:nvSpPr>
        <p:spPr>
          <a:xfrm>
            <a:off x="5589088" y="502205"/>
            <a:ext cx="1261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Start Map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CBBA42-C668-3990-4CB6-00F451990FCE}"/>
              </a:ext>
            </a:extLst>
          </p:cNvPr>
          <p:cNvSpPr txBox="1"/>
          <p:nvPr/>
        </p:nvSpPr>
        <p:spPr>
          <a:xfrm>
            <a:off x="9657395" y="502205"/>
            <a:ext cx="850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Result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65E3AC-51DC-1654-5BE1-2AE2E120D338}"/>
              </a:ext>
            </a:extLst>
          </p:cNvPr>
          <p:cNvSpPr txBox="1"/>
          <p:nvPr/>
        </p:nvSpPr>
        <p:spPr>
          <a:xfrm>
            <a:off x="1763585" y="5117544"/>
            <a:ext cx="7651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Pixel value less than 0.6 m but not part of the result, due to isolated pixels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2CCE086-E861-3B5B-2DEB-3888B3A37C04}"/>
              </a:ext>
            </a:extLst>
          </p:cNvPr>
          <p:cNvSpPr txBox="1"/>
          <p:nvPr/>
        </p:nvSpPr>
        <p:spPr>
          <a:xfrm>
            <a:off x="1763585" y="5486876"/>
            <a:ext cx="2158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Iteration start point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395D35-840E-E591-1809-11137240D477}"/>
              </a:ext>
            </a:extLst>
          </p:cNvPr>
          <p:cNvSpPr txBox="1"/>
          <p:nvPr/>
        </p:nvSpPr>
        <p:spPr>
          <a:xfrm>
            <a:off x="1763585" y="5856208"/>
            <a:ext cx="1715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Inundated area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5310A5-D6F0-74C1-5434-978584FC51B3}"/>
              </a:ext>
            </a:extLst>
          </p:cNvPr>
          <p:cNvSpPr txBox="1"/>
          <p:nvPr/>
        </p:nvSpPr>
        <p:spPr>
          <a:xfrm>
            <a:off x="1791002" y="6225540"/>
            <a:ext cx="1111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Safe area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FA86414-48E5-907B-9326-DE84F841EE22}"/>
              </a:ext>
            </a:extLst>
          </p:cNvPr>
          <p:cNvSpPr/>
          <p:nvPr/>
        </p:nvSpPr>
        <p:spPr>
          <a:xfrm>
            <a:off x="1371600" y="5165943"/>
            <a:ext cx="272534" cy="27253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038080-7334-1C1F-450D-0D41EE88A97F}"/>
              </a:ext>
            </a:extLst>
          </p:cNvPr>
          <p:cNvSpPr/>
          <p:nvPr/>
        </p:nvSpPr>
        <p:spPr>
          <a:xfrm>
            <a:off x="1371600" y="5535275"/>
            <a:ext cx="272534" cy="2725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A883350-054A-B2C9-4384-D49FD1DB4762}"/>
              </a:ext>
            </a:extLst>
          </p:cNvPr>
          <p:cNvSpPr/>
          <p:nvPr/>
        </p:nvSpPr>
        <p:spPr>
          <a:xfrm>
            <a:off x="1371600" y="5904607"/>
            <a:ext cx="272534" cy="272534"/>
          </a:xfrm>
          <a:prstGeom prst="rect">
            <a:avLst/>
          </a:prstGeom>
          <a:solidFill>
            <a:srgbClr val="C0E6F5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E50AE0E-2839-D18A-94A3-2B0135DBC26D}"/>
              </a:ext>
            </a:extLst>
          </p:cNvPr>
          <p:cNvSpPr/>
          <p:nvPr/>
        </p:nvSpPr>
        <p:spPr>
          <a:xfrm>
            <a:off x="1371600" y="6273939"/>
            <a:ext cx="272534" cy="272534"/>
          </a:xfrm>
          <a:prstGeom prst="rect">
            <a:avLst/>
          </a:prstGeom>
          <a:solidFill>
            <a:srgbClr val="FBE2D5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258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6A6FF4D-7B96-3183-67F0-76C2B66C9A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8" t="6666" r="37517" b="2639"/>
          <a:stretch>
            <a:fillRect/>
          </a:stretch>
        </p:blipFill>
        <p:spPr>
          <a:xfrm>
            <a:off x="600075" y="361950"/>
            <a:ext cx="5867400" cy="6219825"/>
          </a:xfrm>
          <a:prstGeom prst="rect">
            <a:avLst/>
          </a:prstGeom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BA0F218B-0581-78A6-AE17-BD7FC7D02013}"/>
              </a:ext>
            </a:extLst>
          </p:cNvPr>
          <p:cNvSpPr/>
          <p:nvPr/>
        </p:nvSpPr>
        <p:spPr>
          <a:xfrm>
            <a:off x="3343276" y="671126"/>
            <a:ext cx="2848340" cy="763216"/>
          </a:xfrm>
          <a:prstGeom prst="rect">
            <a:avLst/>
          </a:prstGeom>
          <a:solidFill>
            <a:srgbClr val="82828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2B1D06-BC1F-EBD7-E03F-A378E222314D}"/>
              </a:ext>
            </a:extLst>
          </p:cNvPr>
          <p:cNvSpPr/>
          <p:nvPr/>
        </p:nvSpPr>
        <p:spPr>
          <a:xfrm>
            <a:off x="3429000" y="727799"/>
            <a:ext cx="272534" cy="163652"/>
          </a:xfrm>
          <a:prstGeom prst="rect">
            <a:avLst/>
          </a:prstGeom>
          <a:solidFill>
            <a:srgbClr val="82828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BCD925-D29C-3953-CD59-142BA81E4E57}"/>
              </a:ext>
            </a:extLst>
          </p:cNvPr>
          <p:cNvSpPr/>
          <p:nvPr/>
        </p:nvSpPr>
        <p:spPr>
          <a:xfrm>
            <a:off x="3429000" y="970909"/>
            <a:ext cx="272534" cy="163652"/>
          </a:xfrm>
          <a:prstGeom prst="rect">
            <a:avLst/>
          </a:prstGeom>
          <a:solidFill>
            <a:srgbClr val="D685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DB85D2-D3A5-CEB9-1014-98E745F60000}"/>
              </a:ext>
            </a:extLst>
          </p:cNvPr>
          <p:cNvSpPr/>
          <p:nvPr/>
        </p:nvSpPr>
        <p:spPr>
          <a:xfrm>
            <a:off x="3425309" y="1214019"/>
            <a:ext cx="272534" cy="163652"/>
          </a:xfrm>
          <a:prstGeom prst="rect">
            <a:avLst/>
          </a:prstGeom>
          <a:solidFill>
            <a:srgbClr val="EEF1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08AD1A2-0EC1-B8CB-967C-326755285A89}"/>
              </a:ext>
            </a:extLst>
          </p:cNvPr>
          <p:cNvSpPr/>
          <p:nvPr/>
        </p:nvSpPr>
        <p:spPr>
          <a:xfrm>
            <a:off x="4699517" y="727799"/>
            <a:ext cx="272534" cy="163652"/>
          </a:xfrm>
          <a:prstGeom prst="rect">
            <a:avLst/>
          </a:prstGeom>
          <a:solidFill>
            <a:srgbClr val="DE9E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90E9155-9BBE-27B0-8BA4-70ABC3DB43F8}"/>
              </a:ext>
            </a:extLst>
          </p:cNvPr>
          <p:cNvSpPr/>
          <p:nvPr/>
        </p:nvSpPr>
        <p:spPr>
          <a:xfrm>
            <a:off x="4699517" y="970909"/>
            <a:ext cx="272534" cy="163652"/>
          </a:xfrm>
          <a:prstGeom prst="rect">
            <a:avLst/>
          </a:prstGeom>
          <a:solidFill>
            <a:srgbClr val="97DBF2"/>
          </a:solidFill>
          <a:ln w="6350">
            <a:solidFill>
              <a:srgbClr val="315D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715CEA4-7593-D6B2-7805-E6F9FD50D78D}"/>
              </a:ext>
            </a:extLst>
          </p:cNvPr>
          <p:cNvSpPr/>
          <p:nvPr/>
        </p:nvSpPr>
        <p:spPr>
          <a:xfrm>
            <a:off x="4699517" y="1214019"/>
            <a:ext cx="272534" cy="163652"/>
          </a:xfrm>
          <a:prstGeom prst="rect">
            <a:avLst/>
          </a:prstGeom>
          <a:solidFill>
            <a:srgbClr val="E5FF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2E8DFAD-0006-FFFE-3A76-9337D167B700}"/>
              </a:ext>
            </a:extLst>
          </p:cNvPr>
          <p:cNvSpPr txBox="1"/>
          <p:nvPr/>
        </p:nvSpPr>
        <p:spPr>
          <a:xfrm>
            <a:off x="3701534" y="671126"/>
            <a:ext cx="7393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Building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D7EEEDC-1B98-4AC6-493F-ED7FAE764166}"/>
              </a:ext>
            </a:extLst>
          </p:cNvPr>
          <p:cNvSpPr txBox="1"/>
          <p:nvPr/>
        </p:nvSpPr>
        <p:spPr>
          <a:xfrm>
            <a:off x="3713976" y="914235"/>
            <a:ext cx="5292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Road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BFC8BF2-185B-2475-D0A3-5C9B3E6889E1}"/>
              </a:ext>
            </a:extLst>
          </p:cNvPr>
          <p:cNvSpPr txBox="1"/>
          <p:nvPr/>
        </p:nvSpPr>
        <p:spPr>
          <a:xfrm>
            <a:off x="3713976" y="1157344"/>
            <a:ext cx="8526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Bare Land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B4ED371-91A1-4DA4-C522-57E377C6FFCA}"/>
              </a:ext>
            </a:extLst>
          </p:cNvPr>
          <p:cNvSpPr txBox="1"/>
          <p:nvPr/>
        </p:nvSpPr>
        <p:spPr>
          <a:xfrm>
            <a:off x="4958585" y="671126"/>
            <a:ext cx="8066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Fishpond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940DDD-40B8-ADB2-048B-49D1ACEF6966}"/>
              </a:ext>
            </a:extLst>
          </p:cNvPr>
          <p:cNvSpPr txBox="1"/>
          <p:nvPr/>
        </p:nvSpPr>
        <p:spPr>
          <a:xfrm>
            <a:off x="4958585" y="909457"/>
            <a:ext cx="9728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Water body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2A6915F-2739-26C5-97C9-B4A9E3075AB5}"/>
              </a:ext>
            </a:extLst>
          </p:cNvPr>
          <p:cNvSpPr txBox="1"/>
          <p:nvPr/>
        </p:nvSpPr>
        <p:spPr>
          <a:xfrm>
            <a:off x="4958585" y="1157343"/>
            <a:ext cx="12330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Tidal Flood 1 m</a:t>
            </a:r>
          </a:p>
        </p:txBody>
      </p:sp>
      <p:pic>
        <p:nvPicPr>
          <p:cNvPr id="38" name="Picture 3">
            <a:extLst>
              <a:ext uri="{FF2B5EF4-FFF2-40B4-BE49-F238E27FC236}">
                <a16:creationId xmlns:a16="http://schemas.microsoft.com/office/drawing/2014/main" id="{53585917-4BAB-939E-C084-715605E349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63" y="0"/>
            <a:ext cx="9144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473796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0B94163-23F9-405C-BC23-9758F4439C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676" y="3853980"/>
            <a:ext cx="2851620" cy="28516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13782A-45D0-21B8-1ED3-ED593C8E06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3256" y="153054"/>
            <a:ext cx="2832465" cy="28324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1479D7B-1E8C-66A8-4ACF-323A247C3E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933" y="158283"/>
            <a:ext cx="2851620" cy="28516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3FEED98-D14C-3209-BE09-278D3EF18B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225" y="152400"/>
            <a:ext cx="2830071" cy="283007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60A845F-107C-7AD0-06BC-4259328E23C9}"/>
              </a:ext>
            </a:extLst>
          </p:cNvPr>
          <p:cNvSpPr txBox="1"/>
          <p:nvPr/>
        </p:nvSpPr>
        <p:spPr>
          <a:xfrm>
            <a:off x="1330069" y="3004020"/>
            <a:ext cx="700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Zone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7DF35C6-0F04-0695-43FE-A237DC2FDC52}"/>
              </a:ext>
            </a:extLst>
          </p:cNvPr>
          <p:cNvSpPr txBox="1"/>
          <p:nvPr/>
        </p:nvSpPr>
        <p:spPr>
          <a:xfrm>
            <a:off x="5149071" y="3059668"/>
            <a:ext cx="1426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Value Raster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47E882-1B7B-2F6B-1120-7729038321D0}"/>
              </a:ext>
            </a:extLst>
          </p:cNvPr>
          <p:cNvSpPr txBox="1"/>
          <p:nvPr/>
        </p:nvSpPr>
        <p:spPr>
          <a:xfrm>
            <a:off x="8682599" y="3059668"/>
            <a:ext cx="1604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Output Raster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3BC606-3C0C-5D36-416C-C2E839F6A890}"/>
              </a:ext>
            </a:extLst>
          </p:cNvPr>
          <p:cNvSpPr txBox="1"/>
          <p:nvPr/>
        </p:nvSpPr>
        <p:spPr>
          <a:xfrm>
            <a:off x="3272646" y="5095124"/>
            <a:ext cx="1426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Value Raster</a:t>
            </a:r>
          </a:p>
        </p:txBody>
      </p:sp>
    </p:spTree>
    <p:extLst>
      <p:ext uri="{BB962C8B-B14F-4D97-AF65-F5344CB8AC3E}">
        <p14:creationId xmlns:p14="http://schemas.microsoft.com/office/powerpoint/2010/main" val="209014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DB4B4F24-1E20-1247-7BD1-A3B9F9C31EFB}"/>
              </a:ext>
            </a:extLst>
          </p:cNvPr>
          <p:cNvSpPr txBox="1"/>
          <p:nvPr/>
        </p:nvSpPr>
        <p:spPr>
          <a:xfrm>
            <a:off x="1319122" y="3025557"/>
            <a:ext cx="97334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Zone Raster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85D96D-C8BB-B097-99B5-F54B8322AB49}"/>
              </a:ext>
            </a:extLst>
          </p:cNvPr>
          <p:cNvSpPr txBox="1"/>
          <p:nvPr/>
        </p:nvSpPr>
        <p:spPr>
          <a:xfrm>
            <a:off x="4697453" y="3025557"/>
            <a:ext cx="10118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Value Raster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D475998-2FD7-602D-FA2D-AF7437604F3B}"/>
              </a:ext>
            </a:extLst>
          </p:cNvPr>
          <p:cNvSpPr txBox="1"/>
          <p:nvPr/>
        </p:nvSpPr>
        <p:spPr>
          <a:xfrm>
            <a:off x="4646157" y="6242923"/>
            <a:ext cx="11144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Output Raster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7E3027-D547-C75A-59C7-B3DABC1AE99F}"/>
              </a:ext>
            </a:extLst>
          </p:cNvPr>
          <p:cNvSpPr txBox="1"/>
          <p:nvPr/>
        </p:nvSpPr>
        <p:spPr>
          <a:xfrm>
            <a:off x="750858" y="6242923"/>
            <a:ext cx="210987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Value Raster with Input Zone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428F965E-98AA-07A0-CD5D-33717B349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087" y="230743"/>
            <a:ext cx="2876550" cy="2775764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018D9BD-F289-0821-4B80-32186CDA3B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521" y="3441442"/>
            <a:ext cx="2876550" cy="278130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93EB1482-6514-4A6C-73AC-0F0660BE4F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5087" y="3441442"/>
            <a:ext cx="2876550" cy="2781300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169AC960-70F3-C7D1-1B2C-20FE6225E61B}"/>
              </a:ext>
            </a:extLst>
          </p:cNvPr>
          <p:cNvSpPr txBox="1"/>
          <p:nvPr/>
        </p:nvSpPr>
        <p:spPr>
          <a:xfrm>
            <a:off x="6734175" y="230743"/>
            <a:ext cx="164974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Remark Value</a:t>
            </a:r>
          </a:p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1- Natural Vegetation</a:t>
            </a:r>
          </a:p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2 - Water</a:t>
            </a:r>
          </a:p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3 - Settlement</a:t>
            </a:r>
          </a:p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4 - Bare land</a:t>
            </a:r>
          </a:p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5 - Plantation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7E313E46-FAAE-D4D9-D789-C1DA9B01B1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521" y="230743"/>
            <a:ext cx="2876550" cy="2781300"/>
          </a:xfrm>
          <a:prstGeom prst="rect">
            <a:avLst/>
          </a:prstGeom>
        </p:spPr>
      </p:pic>
      <p:graphicFrame>
        <p:nvGraphicFramePr>
          <p:cNvPr id="52" name="Table 51">
            <a:extLst>
              <a:ext uri="{FF2B5EF4-FFF2-40B4-BE49-F238E27FC236}">
                <a16:creationId xmlns:a16="http://schemas.microsoft.com/office/drawing/2014/main" id="{D485969E-D3C2-A9DF-0D35-536BE851DF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245044"/>
              </p:ext>
            </p:extLst>
          </p:nvPr>
        </p:nvGraphicFramePr>
        <p:xfrm>
          <a:off x="6959600" y="2336542"/>
          <a:ext cx="5232400" cy="1104900"/>
        </p:xfrm>
        <a:graphic>
          <a:graphicData uri="http://schemas.openxmlformats.org/drawingml/2006/table">
            <a:tbl>
              <a:tblPr/>
              <a:tblGrid>
                <a:gridCol w="533400">
                  <a:extLst>
                    <a:ext uri="{9D8B030D-6E8A-4147-A177-3AD203B41FA5}">
                      <a16:colId xmlns:a16="http://schemas.microsoft.com/office/drawing/2014/main" val="3647774015"/>
                    </a:ext>
                  </a:extLst>
                </a:gridCol>
                <a:gridCol w="546100">
                  <a:extLst>
                    <a:ext uri="{9D8B030D-6E8A-4147-A177-3AD203B41FA5}">
                      <a16:colId xmlns:a16="http://schemas.microsoft.com/office/drawing/2014/main" val="2581305539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1013172671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3055245637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2851156038"/>
                    </a:ext>
                  </a:extLst>
                </a:gridCol>
                <a:gridCol w="736600">
                  <a:extLst>
                    <a:ext uri="{9D8B030D-6E8A-4147-A177-3AD203B41FA5}">
                      <a16:colId xmlns:a16="http://schemas.microsoft.com/office/drawing/2014/main" val="284086950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1763400996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D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Zone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D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Count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D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Variety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D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Majority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D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Majority %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D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Minority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D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Minority %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811979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                83.3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                16.7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2311377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                87.5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                25.0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385412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FF0000"/>
                          </a:solidFill>
                          <a:effectLst/>
                          <a:latin typeface="Segoe UI" panose="020B0502040204020203" pitchFamily="34" charset="0"/>
                        </a:rPr>
                        <a:t>                53.8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                  7.7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66128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1292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D153C-0669-D2C9-7B0E-9AF5339D8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C50A4DD1-0B49-5C2A-DC90-3E48EB7D29F2}"/>
              </a:ext>
            </a:extLst>
          </p:cNvPr>
          <p:cNvSpPr txBox="1"/>
          <p:nvPr/>
        </p:nvSpPr>
        <p:spPr>
          <a:xfrm>
            <a:off x="1319122" y="3025557"/>
            <a:ext cx="97334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Zone Raster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6DF1F65-36A7-BF9F-C62F-9C05FEDE500D}"/>
              </a:ext>
            </a:extLst>
          </p:cNvPr>
          <p:cNvSpPr txBox="1"/>
          <p:nvPr/>
        </p:nvSpPr>
        <p:spPr>
          <a:xfrm>
            <a:off x="4697453" y="3025557"/>
            <a:ext cx="10118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Value Raster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507E745-71A8-9823-3E40-483D42A34236}"/>
              </a:ext>
            </a:extLst>
          </p:cNvPr>
          <p:cNvSpPr txBox="1"/>
          <p:nvPr/>
        </p:nvSpPr>
        <p:spPr>
          <a:xfrm>
            <a:off x="1240988" y="6372315"/>
            <a:ext cx="11144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Output Raster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E4E6417-5FE1-9015-556F-3B07CBC41BEE}"/>
              </a:ext>
            </a:extLst>
          </p:cNvPr>
          <p:cNvSpPr txBox="1"/>
          <p:nvPr/>
        </p:nvSpPr>
        <p:spPr>
          <a:xfrm>
            <a:off x="7545990" y="3026688"/>
            <a:ext cx="210987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Value Raster with Input Zone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98D6187B-7439-E11E-E9F5-4350F66CD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087" y="230743"/>
            <a:ext cx="2876550" cy="2775764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26F2DF2-79A7-0174-E8AB-70BF7ADDFB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2653" y="225207"/>
            <a:ext cx="2876550" cy="278130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D56BFFC7-FC52-5E96-F644-64D8DA5B7B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918" y="3570834"/>
            <a:ext cx="2876550" cy="2781300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D934C0FE-C555-D3A6-62BF-ED6977BA987E}"/>
              </a:ext>
            </a:extLst>
          </p:cNvPr>
          <p:cNvSpPr txBox="1"/>
          <p:nvPr/>
        </p:nvSpPr>
        <p:spPr>
          <a:xfrm>
            <a:off x="6951179" y="3501791"/>
            <a:ext cx="1539204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Remark Value</a:t>
            </a:r>
          </a:p>
          <a:p>
            <a:r>
              <a:rPr lang="en-US" sz="1100" dirty="0">
                <a:latin typeface="Segoe UI" panose="020B0502040204020203" pitchFamily="34" charset="0"/>
                <a:cs typeface="Segoe UI" panose="020B0502040204020203" pitchFamily="34" charset="0"/>
              </a:rPr>
              <a:t>1- Natural Vegetation</a:t>
            </a:r>
          </a:p>
          <a:p>
            <a:r>
              <a:rPr lang="en-US" sz="1100" dirty="0">
                <a:latin typeface="Segoe UI" panose="020B0502040204020203" pitchFamily="34" charset="0"/>
                <a:cs typeface="Segoe UI" panose="020B0502040204020203" pitchFamily="34" charset="0"/>
              </a:rPr>
              <a:t>2 - Water</a:t>
            </a:r>
          </a:p>
          <a:p>
            <a:r>
              <a:rPr lang="en-US" sz="1100" dirty="0">
                <a:latin typeface="Segoe UI" panose="020B0502040204020203" pitchFamily="34" charset="0"/>
                <a:cs typeface="Segoe UI" panose="020B0502040204020203" pitchFamily="34" charset="0"/>
              </a:rPr>
              <a:t>3 - Settlement</a:t>
            </a:r>
          </a:p>
          <a:p>
            <a:r>
              <a:rPr lang="en-US" sz="1100" dirty="0">
                <a:latin typeface="Segoe UI" panose="020B0502040204020203" pitchFamily="34" charset="0"/>
                <a:cs typeface="Segoe UI" panose="020B0502040204020203" pitchFamily="34" charset="0"/>
              </a:rPr>
              <a:t>4 - Bare land</a:t>
            </a:r>
          </a:p>
          <a:p>
            <a:r>
              <a:rPr lang="en-US" sz="1100" dirty="0">
                <a:latin typeface="Segoe UI" panose="020B0502040204020203" pitchFamily="34" charset="0"/>
                <a:cs typeface="Segoe UI" panose="020B0502040204020203" pitchFamily="34" charset="0"/>
              </a:rPr>
              <a:t>5 - Plantation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FEDCD038-0192-09AA-A66B-72C88936D0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521" y="230743"/>
            <a:ext cx="2876550" cy="27813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F34CA61-22B0-71F3-D0BD-F0A6863A67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5087" y="3570834"/>
            <a:ext cx="2876550" cy="27915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BDCBA8B-36E0-9604-4FE6-C45BD3FE9A80}"/>
              </a:ext>
            </a:extLst>
          </p:cNvPr>
          <p:cNvSpPr txBox="1"/>
          <p:nvPr/>
        </p:nvSpPr>
        <p:spPr>
          <a:xfrm>
            <a:off x="4089112" y="6384429"/>
            <a:ext cx="22284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Output Raster (Majority Value)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E087BE-330F-6E92-54F7-83B9558927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8902941"/>
              </p:ext>
            </p:extLst>
          </p:nvPr>
        </p:nvGraphicFramePr>
        <p:xfrm>
          <a:off x="7016453" y="4915614"/>
          <a:ext cx="2717800" cy="1466850"/>
        </p:xfrm>
        <a:graphic>
          <a:graphicData uri="http://schemas.openxmlformats.org/drawingml/2006/table">
            <a:tbl>
              <a:tblPr/>
              <a:tblGrid>
                <a:gridCol w="938703">
                  <a:extLst>
                    <a:ext uri="{9D8B030D-6E8A-4147-A177-3AD203B41FA5}">
                      <a16:colId xmlns:a16="http://schemas.microsoft.com/office/drawing/2014/main" val="1877058027"/>
                    </a:ext>
                  </a:extLst>
                </a:gridCol>
                <a:gridCol w="482037">
                  <a:extLst>
                    <a:ext uri="{9D8B030D-6E8A-4147-A177-3AD203B41FA5}">
                      <a16:colId xmlns:a16="http://schemas.microsoft.com/office/drawing/2014/main" val="253210415"/>
                    </a:ext>
                  </a:extLst>
                </a:gridCol>
                <a:gridCol w="599375">
                  <a:extLst>
                    <a:ext uri="{9D8B030D-6E8A-4147-A177-3AD203B41FA5}">
                      <a16:colId xmlns:a16="http://schemas.microsoft.com/office/drawing/2014/main" val="3435440439"/>
                    </a:ext>
                  </a:extLst>
                </a:gridCol>
                <a:gridCol w="697685">
                  <a:extLst>
                    <a:ext uri="{9D8B030D-6E8A-4147-A177-3AD203B41FA5}">
                      <a16:colId xmlns:a16="http://schemas.microsoft.com/office/drawing/2014/main" val="1727699070"/>
                    </a:ext>
                  </a:extLst>
                </a:gridCol>
              </a:tblGrid>
              <a:tr h="2095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1" i="0" u="none" strike="noStrike">
                          <a:solidFill>
                            <a:srgbClr val="FFFFFF"/>
                          </a:solidFill>
                          <a:effectLst/>
                          <a:latin typeface="Segoe UI" panose="020B0502040204020203" pitchFamily="34" charset="0"/>
                        </a:rPr>
                        <a:t>Zone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1" i="0" u="none" strike="noStrike">
                          <a:solidFill>
                            <a:srgbClr val="FFFFFF"/>
                          </a:solidFill>
                          <a:effectLst/>
                          <a:latin typeface="Segoe UI" panose="020B0502040204020203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Segoe UI" panose="020B0502040204020203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1" i="0" u="none" strike="noStrike">
                          <a:solidFill>
                            <a:srgbClr val="FFFFFF"/>
                          </a:solidFill>
                          <a:effectLst/>
                          <a:latin typeface="Segoe UI" panose="020B0502040204020203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9585388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Count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6082356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Variety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2311886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Majority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069656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Majority 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83.3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87.5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FF0000"/>
                          </a:solidFill>
                          <a:effectLst/>
                          <a:latin typeface="Segoe UI" panose="020B0502040204020203" pitchFamily="34" charset="0"/>
                        </a:rPr>
                        <a:t>53.8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750598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Minority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638333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Minority 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16.67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7.7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9797044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B7E01267-62AD-03A2-02F5-F00CA4B79DFC}"/>
              </a:ext>
            </a:extLst>
          </p:cNvPr>
          <p:cNvSpPr txBox="1"/>
          <p:nvPr/>
        </p:nvSpPr>
        <p:spPr>
          <a:xfrm>
            <a:off x="6951179" y="4632029"/>
            <a:ext cx="11608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Statistic Result</a:t>
            </a:r>
          </a:p>
        </p:txBody>
      </p:sp>
    </p:spTree>
    <p:extLst>
      <p:ext uri="{BB962C8B-B14F-4D97-AF65-F5344CB8AC3E}">
        <p14:creationId xmlns:p14="http://schemas.microsoft.com/office/powerpoint/2010/main" val="6341811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287B945-BB4F-F08A-0DE6-B7F9AFE8C8F1}"/>
              </a:ext>
            </a:extLst>
          </p:cNvPr>
          <p:cNvSpPr/>
          <p:nvPr/>
        </p:nvSpPr>
        <p:spPr>
          <a:xfrm>
            <a:off x="295275" y="257175"/>
            <a:ext cx="1543050" cy="9144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GPS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51A5C3-CE49-0D82-8C66-1FFEADE8114B}"/>
              </a:ext>
            </a:extLst>
          </p:cNvPr>
          <p:cNvSpPr/>
          <p:nvPr/>
        </p:nvSpPr>
        <p:spPr>
          <a:xfrm>
            <a:off x="295275" y="1352550"/>
            <a:ext cx="1543050" cy="9144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Smartphone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4E0DC6-7575-44A9-D9CF-E6EBBBDBC54E}"/>
              </a:ext>
            </a:extLst>
          </p:cNvPr>
          <p:cNvSpPr/>
          <p:nvPr/>
        </p:nvSpPr>
        <p:spPr>
          <a:xfrm>
            <a:off x="295275" y="2447925"/>
            <a:ext cx="1543050" cy="9144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Survey Form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1FAD71D-6587-1D7F-438B-F845498B374A}"/>
              </a:ext>
            </a:extLst>
          </p:cNvPr>
          <p:cNvSpPr/>
          <p:nvPr/>
        </p:nvSpPr>
        <p:spPr>
          <a:xfrm>
            <a:off x="295275" y="3543300"/>
            <a:ext cx="1543050" cy="9144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Measuring Tape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43DD752-E74A-E921-151B-C549F16A103B}"/>
              </a:ext>
            </a:extLst>
          </p:cNvPr>
          <p:cNvSpPr/>
          <p:nvPr/>
        </p:nvSpPr>
        <p:spPr>
          <a:xfrm>
            <a:off x="7267575" y="257175"/>
            <a:ext cx="1543050" cy="9144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Smartphone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DE41699-8EF4-2506-70AC-58C35C32C1E5}"/>
              </a:ext>
            </a:extLst>
          </p:cNvPr>
          <p:cNvSpPr/>
          <p:nvPr/>
        </p:nvSpPr>
        <p:spPr>
          <a:xfrm>
            <a:off x="7267575" y="1352550"/>
            <a:ext cx="1543050" cy="9144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Measuring Tape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BCB05A1-F8DC-307A-6C15-B3495B6C5D52}"/>
              </a:ext>
            </a:extLst>
          </p:cNvPr>
          <p:cNvSpPr/>
          <p:nvPr/>
        </p:nvSpPr>
        <p:spPr>
          <a:xfrm>
            <a:off x="2238375" y="257175"/>
            <a:ext cx="1543050" cy="9144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Collect coordinate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970F6DB-C015-6E96-F59A-D004BA37CD91}"/>
              </a:ext>
            </a:extLst>
          </p:cNvPr>
          <p:cNvSpPr/>
          <p:nvPr/>
        </p:nvSpPr>
        <p:spPr>
          <a:xfrm>
            <a:off x="2238375" y="1352550"/>
            <a:ext cx="1543050" cy="9144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Collect photo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8EF43F8-D704-0544-60C6-895295193D9C}"/>
              </a:ext>
            </a:extLst>
          </p:cNvPr>
          <p:cNvSpPr/>
          <p:nvPr/>
        </p:nvSpPr>
        <p:spPr>
          <a:xfrm>
            <a:off x="2238375" y="2447925"/>
            <a:ext cx="1543050" cy="9144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Collect infrastructure data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EBF8071-EAD1-A52B-1474-1972FD8679D0}"/>
              </a:ext>
            </a:extLst>
          </p:cNvPr>
          <p:cNvSpPr/>
          <p:nvPr/>
        </p:nvSpPr>
        <p:spPr>
          <a:xfrm>
            <a:off x="2238375" y="3543300"/>
            <a:ext cx="1543050" cy="9144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Measuring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6DB189-09FA-AB6A-7901-078ED9040484}"/>
              </a:ext>
            </a:extLst>
          </p:cNvPr>
          <p:cNvSpPr/>
          <p:nvPr/>
        </p:nvSpPr>
        <p:spPr>
          <a:xfrm>
            <a:off x="9182100" y="257175"/>
            <a:ext cx="1543050" cy="9144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Navigation, plotting, collect data, photo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6EE806-E37E-53DA-FD85-79BF36B07467}"/>
              </a:ext>
            </a:extLst>
          </p:cNvPr>
          <p:cNvSpPr/>
          <p:nvPr/>
        </p:nvSpPr>
        <p:spPr>
          <a:xfrm>
            <a:off x="9182100" y="1352550"/>
            <a:ext cx="1543050" cy="9144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Measuring</a:t>
            </a:r>
          </a:p>
        </p:txBody>
      </p:sp>
    </p:spTree>
    <p:extLst>
      <p:ext uri="{BB962C8B-B14F-4D97-AF65-F5344CB8AC3E}">
        <p14:creationId xmlns:p14="http://schemas.microsoft.com/office/powerpoint/2010/main" val="3387852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6D474D4-A526-4AA6-4D1F-E03CA43A0061}"/>
              </a:ext>
            </a:extLst>
          </p:cNvPr>
          <p:cNvSpPr/>
          <p:nvPr/>
        </p:nvSpPr>
        <p:spPr>
          <a:xfrm>
            <a:off x="514350" y="552450"/>
            <a:ext cx="1543050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Finding target location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8568B2-F6B8-8E5D-AC96-AC1AB7506932}"/>
              </a:ext>
            </a:extLst>
          </p:cNvPr>
          <p:cNvSpPr/>
          <p:nvPr/>
        </p:nvSpPr>
        <p:spPr>
          <a:xfrm>
            <a:off x="2571750" y="552450"/>
            <a:ext cx="1543050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Collect coordinate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8CD05-8BEA-8327-B8FC-886310F86F5F}"/>
              </a:ext>
            </a:extLst>
          </p:cNvPr>
          <p:cNvSpPr/>
          <p:nvPr/>
        </p:nvSpPr>
        <p:spPr>
          <a:xfrm>
            <a:off x="4629150" y="552450"/>
            <a:ext cx="1543050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measuring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C8DDDF6-25CB-F633-FD1E-CB59DFCB61D2}"/>
              </a:ext>
            </a:extLst>
          </p:cNvPr>
          <p:cNvSpPr/>
          <p:nvPr/>
        </p:nvSpPr>
        <p:spPr>
          <a:xfrm>
            <a:off x="6686550" y="552450"/>
            <a:ext cx="1543050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Write down the measurement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FF4633-B9B5-D436-6DAC-6AF1B856CF23}"/>
              </a:ext>
            </a:extLst>
          </p:cNvPr>
          <p:cNvSpPr/>
          <p:nvPr/>
        </p:nvSpPr>
        <p:spPr>
          <a:xfrm>
            <a:off x="8743950" y="552450"/>
            <a:ext cx="1543050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Take a photo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A45E2FA-9670-CA5A-DAA6-18E3232CC9D9}"/>
              </a:ext>
            </a:extLst>
          </p:cNvPr>
          <p:cNvSpPr/>
          <p:nvPr/>
        </p:nvSpPr>
        <p:spPr>
          <a:xfrm>
            <a:off x="514350" y="2009775"/>
            <a:ext cx="1543050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Input to spreadsheet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16C02A6-6EF3-5171-0F0A-A7C99BCDAF25}"/>
              </a:ext>
            </a:extLst>
          </p:cNvPr>
          <p:cNvSpPr/>
          <p:nvPr/>
        </p:nvSpPr>
        <p:spPr>
          <a:xfrm>
            <a:off x="2571750" y="4029076"/>
            <a:ext cx="1543050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Update the map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58D4FB-3B1B-4FD2-A355-206B5C2710FC}"/>
              </a:ext>
            </a:extLst>
          </p:cNvPr>
          <p:cNvSpPr/>
          <p:nvPr/>
        </p:nvSpPr>
        <p:spPr>
          <a:xfrm>
            <a:off x="499601" y="5712858"/>
            <a:ext cx="1543050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Navigate to target location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F4B4C05-C9D4-1C74-3752-727B758BAEA4}"/>
              </a:ext>
            </a:extLst>
          </p:cNvPr>
          <p:cNvSpPr/>
          <p:nvPr/>
        </p:nvSpPr>
        <p:spPr>
          <a:xfrm>
            <a:off x="2557001" y="5712858"/>
            <a:ext cx="1543050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measuring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5916295-4282-65D5-D9FF-54F43875194B}"/>
              </a:ext>
            </a:extLst>
          </p:cNvPr>
          <p:cNvSpPr/>
          <p:nvPr/>
        </p:nvSpPr>
        <p:spPr>
          <a:xfrm>
            <a:off x="4614401" y="5712858"/>
            <a:ext cx="1543050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Plotting, collect the data including the photo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B2151E8-6C62-A348-85F6-298CA7CE93D8}"/>
              </a:ext>
            </a:extLst>
          </p:cNvPr>
          <p:cNvSpPr/>
          <p:nvPr/>
        </p:nvSpPr>
        <p:spPr>
          <a:xfrm>
            <a:off x="6671801" y="5712858"/>
            <a:ext cx="1543050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Export data or send to HQ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05392F2-424B-0F2A-379C-41D5AF2BCF60}"/>
              </a:ext>
            </a:extLst>
          </p:cNvPr>
          <p:cNvSpPr/>
          <p:nvPr/>
        </p:nvSpPr>
        <p:spPr>
          <a:xfrm>
            <a:off x="8729201" y="5712858"/>
            <a:ext cx="1543050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Analysis, calculate, report &amp; update the map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1173852-D804-249F-C7AE-517ED58F7B12}"/>
              </a:ext>
            </a:extLst>
          </p:cNvPr>
          <p:cNvSpPr/>
          <p:nvPr/>
        </p:nvSpPr>
        <p:spPr>
          <a:xfrm>
            <a:off x="2571750" y="2009775"/>
            <a:ext cx="1543050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Matching the photo documentation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5336428-DCDA-FF83-1CB5-333C4AD719C0}"/>
              </a:ext>
            </a:extLst>
          </p:cNvPr>
          <p:cNvSpPr/>
          <p:nvPr/>
        </p:nvSpPr>
        <p:spPr>
          <a:xfrm>
            <a:off x="2571750" y="3019426"/>
            <a:ext cx="1543050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Analysis, calculate, report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B8E2EB3-128F-30CD-863F-2FA84367DF3C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057400" y="1009650"/>
            <a:ext cx="5143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B56C02E-716D-7199-DBBA-AF66C513DFFD}"/>
              </a:ext>
            </a:extLst>
          </p:cNvPr>
          <p:cNvCxnSpPr/>
          <p:nvPr/>
        </p:nvCxnSpPr>
        <p:spPr>
          <a:xfrm>
            <a:off x="4114800" y="1009650"/>
            <a:ext cx="5143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885C7171-0688-5DDD-2CAC-F30BA8EA601E}"/>
              </a:ext>
            </a:extLst>
          </p:cNvPr>
          <p:cNvCxnSpPr/>
          <p:nvPr/>
        </p:nvCxnSpPr>
        <p:spPr>
          <a:xfrm>
            <a:off x="6172200" y="1009650"/>
            <a:ext cx="5143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6AC7B89D-5252-C689-40C7-D7EDE1701A07}"/>
              </a:ext>
            </a:extLst>
          </p:cNvPr>
          <p:cNvCxnSpPr/>
          <p:nvPr/>
        </p:nvCxnSpPr>
        <p:spPr>
          <a:xfrm>
            <a:off x="8229600" y="1019175"/>
            <a:ext cx="5143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6ADA53E-965D-B009-DA6A-566812AC0566}"/>
              </a:ext>
            </a:extLst>
          </p:cNvPr>
          <p:cNvCxnSpPr/>
          <p:nvPr/>
        </p:nvCxnSpPr>
        <p:spPr>
          <a:xfrm>
            <a:off x="2042651" y="6170058"/>
            <a:ext cx="5143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5C44EB1-9082-73A4-E23B-FA7F8181571C}"/>
              </a:ext>
            </a:extLst>
          </p:cNvPr>
          <p:cNvCxnSpPr/>
          <p:nvPr/>
        </p:nvCxnSpPr>
        <p:spPr>
          <a:xfrm>
            <a:off x="4100051" y="6170058"/>
            <a:ext cx="5143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A51EBFBD-CEF7-F2CF-160C-BD03F0F8D0BD}"/>
              </a:ext>
            </a:extLst>
          </p:cNvPr>
          <p:cNvCxnSpPr/>
          <p:nvPr/>
        </p:nvCxnSpPr>
        <p:spPr>
          <a:xfrm>
            <a:off x="6157451" y="6170058"/>
            <a:ext cx="5143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D8E9F105-5803-D73D-1493-734B1E439334}"/>
              </a:ext>
            </a:extLst>
          </p:cNvPr>
          <p:cNvCxnSpPr/>
          <p:nvPr/>
        </p:nvCxnSpPr>
        <p:spPr>
          <a:xfrm>
            <a:off x="8214851" y="6179583"/>
            <a:ext cx="5143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281FDC85-738D-402D-BFE0-74FEBF57F7E8}"/>
              </a:ext>
            </a:extLst>
          </p:cNvPr>
          <p:cNvCxnSpPr/>
          <p:nvPr/>
        </p:nvCxnSpPr>
        <p:spPr>
          <a:xfrm>
            <a:off x="2057400" y="2466975"/>
            <a:ext cx="5143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5F2EE428-DFF5-3627-A5B9-0696851DBFF7}"/>
              </a:ext>
            </a:extLst>
          </p:cNvPr>
          <p:cNvCxnSpPr>
            <a:cxnSpLocks/>
          </p:cNvCxnSpPr>
          <p:nvPr/>
        </p:nvCxnSpPr>
        <p:spPr>
          <a:xfrm>
            <a:off x="2314575" y="3476626"/>
            <a:ext cx="2571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C6288107-402A-2153-516B-AFD210587AB1}"/>
              </a:ext>
            </a:extLst>
          </p:cNvPr>
          <p:cNvCxnSpPr>
            <a:stCxn id="13" idx="2"/>
            <a:endCxn id="15" idx="0"/>
          </p:cNvCxnSpPr>
          <p:nvPr/>
        </p:nvCxnSpPr>
        <p:spPr>
          <a:xfrm rot="5400000">
            <a:off x="5129213" y="-2376488"/>
            <a:ext cx="542925" cy="822960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E70ED03F-25E0-C358-8FF7-E4E51744E273}"/>
              </a:ext>
            </a:extLst>
          </p:cNvPr>
          <p:cNvSpPr txBox="1"/>
          <p:nvPr/>
        </p:nvSpPr>
        <p:spPr>
          <a:xfrm>
            <a:off x="409575" y="95250"/>
            <a:ext cx="1540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Old workflow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133720-6D3E-73D5-5648-1EBE6F04ED92}"/>
              </a:ext>
            </a:extLst>
          </p:cNvPr>
          <p:cNvSpPr txBox="1"/>
          <p:nvPr/>
        </p:nvSpPr>
        <p:spPr>
          <a:xfrm>
            <a:off x="409575" y="5267326"/>
            <a:ext cx="1633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New workflow</a:t>
            </a:r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E5142077-4AB2-3754-0D00-0776CCBCCE5A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2057400" y="2466975"/>
            <a:ext cx="514350" cy="201930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0617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5CFD6-FFE7-774C-D364-BD029D067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E6DB06C-F557-3123-D558-FA4A497A6150}"/>
              </a:ext>
            </a:extLst>
          </p:cNvPr>
          <p:cNvSpPr/>
          <p:nvPr/>
        </p:nvSpPr>
        <p:spPr>
          <a:xfrm>
            <a:off x="409575" y="2686048"/>
            <a:ext cx="1543050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Export to csv and </a:t>
            </a:r>
            <a:r>
              <a:rPr lang="en-US" sz="1400" dirty="0" err="1">
                <a:latin typeface="Segoe UI" panose="020B0502040204020203" pitchFamily="34" charset="0"/>
                <a:cs typeface="Segoe UI" panose="020B0502040204020203" pitchFamily="34" charset="0"/>
              </a:rPr>
              <a:t>kmz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1D7AFCF-A195-E83A-3885-AAED58BFF1F3}"/>
              </a:ext>
            </a:extLst>
          </p:cNvPr>
          <p:cNvSpPr/>
          <p:nvPr/>
        </p:nvSpPr>
        <p:spPr>
          <a:xfrm>
            <a:off x="2571750" y="2009775"/>
            <a:ext cx="1543050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Tabular data containing measurement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2FCEFFD-AEE2-CDCF-6771-3ADEFD3F2B1A}"/>
              </a:ext>
            </a:extLst>
          </p:cNvPr>
          <p:cNvSpPr/>
          <p:nvPr/>
        </p:nvSpPr>
        <p:spPr>
          <a:xfrm>
            <a:off x="2571750" y="3362321"/>
            <a:ext cx="1543050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Extract photos (named by its infrastructure ID)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65CF08-BF40-9E27-33A7-51D9D9632C96}"/>
              </a:ext>
            </a:extLst>
          </p:cNvPr>
          <p:cNvSpPr txBox="1"/>
          <p:nvPr/>
        </p:nvSpPr>
        <p:spPr>
          <a:xfrm>
            <a:off x="409575" y="95250"/>
            <a:ext cx="1633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New workflow</a:t>
            </a:r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AA795E0F-0F28-8AB5-A6AC-BAADE2D6BE47}"/>
              </a:ext>
            </a:extLst>
          </p:cNvPr>
          <p:cNvCxnSpPr>
            <a:cxnSpLocks/>
            <a:stCxn id="5" idx="3"/>
            <a:endCxn id="63" idx="1"/>
          </p:cNvCxnSpPr>
          <p:nvPr/>
        </p:nvCxnSpPr>
        <p:spPr>
          <a:xfrm>
            <a:off x="1952625" y="3143248"/>
            <a:ext cx="619125" cy="67627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3A09DDE0-A881-0AB0-DE0E-A76D8605E9D4}"/>
              </a:ext>
            </a:extLst>
          </p:cNvPr>
          <p:cNvSpPr/>
          <p:nvPr/>
        </p:nvSpPr>
        <p:spPr>
          <a:xfrm>
            <a:off x="4629150" y="2000248"/>
            <a:ext cx="1543050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Generate design and budget of each plot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0170868-5529-AFAB-53CA-0D7D19CF9A73}"/>
              </a:ext>
            </a:extLst>
          </p:cNvPr>
          <p:cNvCxnSpPr/>
          <p:nvPr/>
        </p:nvCxnSpPr>
        <p:spPr>
          <a:xfrm>
            <a:off x="4114800" y="2457448"/>
            <a:ext cx="5143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F8A649D4-DA17-DCFB-0712-8EF220585974}"/>
              </a:ext>
            </a:extLst>
          </p:cNvPr>
          <p:cNvSpPr/>
          <p:nvPr/>
        </p:nvSpPr>
        <p:spPr>
          <a:xfrm>
            <a:off x="6686550" y="2009775"/>
            <a:ext cx="1543050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Add as an attachment on map feature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96E0CA4-D406-5B7E-78C2-FC33FDEEACDC}"/>
              </a:ext>
            </a:extLst>
          </p:cNvPr>
          <p:cNvSpPr/>
          <p:nvPr/>
        </p:nvSpPr>
        <p:spPr>
          <a:xfrm>
            <a:off x="8743950" y="2000248"/>
            <a:ext cx="1543050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reporting</a:t>
            </a: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411FDC7-3240-0743-A4BA-28C02F5BC752}"/>
              </a:ext>
            </a:extLst>
          </p:cNvPr>
          <p:cNvCxnSpPr>
            <a:cxnSpLocks/>
            <a:stCxn id="5" idx="3"/>
            <a:endCxn id="61" idx="1"/>
          </p:cNvCxnSpPr>
          <p:nvPr/>
        </p:nvCxnSpPr>
        <p:spPr>
          <a:xfrm flipV="1">
            <a:off x="1952625" y="2466975"/>
            <a:ext cx="619125" cy="67627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2ED3A2A-9DAD-8236-20CA-6605FD39015E}"/>
              </a:ext>
            </a:extLst>
          </p:cNvPr>
          <p:cNvCxnSpPr>
            <a:cxnSpLocks/>
            <a:stCxn id="63" idx="3"/>
            <a:endCxn id="3" idx="2"/>
          </p:cNvCxnSpPr>
          <p:nvPr/>
        </p:nvCxnSpPr>
        <p:spPr>
          <a:xfrm flipV="1">
            <a:off x="4114800" y="2914648"/>
            <a:ext cx="1285875" cy="90487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9582589-74D2-5DCA-5097-9C4CDBFC8085}"/>
              </a:ext>
            </a:extLst>
          </p:cNvPr>
          <p:cNvCxnSpPr/>
          <p:nvPr/>
        </p:nvCxnSpPr>
        <p:spPr>
          <a:xfrm>
            <a:off x="6172200" y="2457448"/>
            <a:ext cx="5143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192E5BA-5B5B-A0C4-181C-4A94BD9E5F25}"/>
              </a:ext>
            </a:extLst>
          </p:cNvPr>
          <p:cNvCxnSpPr/>
          <p:nvPr/>
        </p:nvCxnSpPr>
        <p:spPr>
          <a:xfrm>
            <a:off x="8229600" y="2457448"/>
            <a:ext cx="5143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88165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4D02B6A-A97C-E3F3-F9F7-7AE27ECEDB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8125" y="0"/>
            <a:ext cx="3855749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4C8BC6-0E30-3B85-3AA2-BA501195E9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75" y="0"/>
            <a:ext cx="3855749" cy="6858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72CB307-B851-7D46-69A7-E747534C8BF1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6812"/>
          <a:stretch>
            <a:fillRect/>
          </a:stretch>
        </p:blipFill>
        <p:spPr>
          <a:xfrm>
            <a:off x="8159100" y="0"/>
            <a:ext cx="3748232" cy="261937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21FB4F2-4FD2-12DC-1B07-69E915B719CA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59100" y="4539999"/>
            <a:ext cx="3748232" cy="231800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745F56E-4C32-E2A9-5065-65084D80ED1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14564"/>
          <a:stretch>
            <a:fillRect/>
          </a:stretch>
        </p:blipFill>
        <p:spPr>
          <a:xfrm>
            <a:off x="8159100" y="2345800"/>
            <a:ext cx="3748232" cy="2467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30965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3566EB-E011-E379-102C-1976B963396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8543" y="-520430"/>
            <a:ext cx="51435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AF913B7-A46D-3EA8-0B63-DEF09E430F7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495300" y="1496729"/>
            <a:ext cx="9144000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8104E9-7A7B-EFC6-C7A6-E5E87337508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76450" y="-520430"/>
            <a:ext cx="9144000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4A400F5-7971-7D07-F455-FC842F6C24D8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368483" y="-520430"/>
            <a:ext cx="4559435" cy="623543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6AD2DD8-D129-78E3-1FA0-2F856B3133D8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52900" y="-1257300"/>
            <a:ext cx="10287000" cy="6858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B61C182-2F3D-3EE3-16E7-55748F448AF8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95900" y="-1143000"/>
            <a:ext cx="10287000" cy="6858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550EF67-75B4-AD12-E335-2E2D5750E6B4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81450" y="-125730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187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2CF385D-A788-74EF-E548-68EA6F088E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259" y="0"/>
            <a:ext cx="10977481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96E245D-21F0-C30C-27E6-6E83E67C180B}"/>
              </a:ext>
            </a:extLst>
          </p:cNvPr>
          <p:cNvSpPr/>
          <p:nvPr/>
        </p:nvSpPr>
        <p:spPr>
          <a:xfrm>
            <a:off x="2069307" y="3190875"/>
            <a:ext cx="309563" cy="1190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D77D6A-09CE-7236-53D2-A3E88233DDE5}"/>
              </a:ext>
            </a:extLst>
          </p:cNvPr>
          <p:cNvSpPr/>
          <p:nvPr/>
        </p:nvSpPr>
        <p:spPr>
          <a:xfrm>
            <a:off x="2069306" y="3348037"/>
            <a:ext cx="309563" cy="119063"/>
          </a:xfrm>
          <a:prstGeom prst="rect">
            <a:avLst/>
          </a:prstGeom>
          <a:solidFill>
            <a:srgbClr val="D4E4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AD424B-BD1E-B962-A8A3-745B450EB56E}"/>
              </a:ext>
            </a:extLst>
          </p:cNvPr>
          <p:cNvSpPr/>
          <p:nvPr/>
        </p:nvSpPr>
        <p:spPr>
          <a:xfrm>
            <a:off x="2066926" y="3505199"/>
            <a:ext cx="309563" cy="1190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702714-66CD-9934-8053-7BE81EE1BEF4}"/>
              </a:ext>
            </a:extLst>
          </p:cNvPr>
          <p:cNvSpPr txBox="1"/>
          <p:nvPr/>
        </p:nvSpPr>
        <p:spPr>
          <a:xfrm>
            <a:off x="1984141" y="3134991"/>
            <a:ext cx="23115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00000F"/>
                </a:solidFill>
                <a:latin typeface="Arial Narrow" panose="020B0606020202030204" pitchFamily="34" charset="0"/>
                <a:cs typeface="Arial" panose="020B0604020202020204" pitchFamily="34" charset="0"/>
              </a:rPr>
              <a:t>0</a:t>
            </a:r>
            <a:endParaRPr lang="en-US" sz="2400" dirty="0">
              <a:solidFill>
                <a:srgbClr val="00000F"/>
              </a:solidFill>
              <a:latin typeface="Arial Narrow" panose="020B060602020203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D5A901-D5D4-6FA5-C2D4-47630D90E98F}"/>
              </a:ext>
            </a:extLst>
          </p:cNvPr>
          <p:cNvSpPr txBox="1"/>
          <p:nvPr/>
        </p:nvSpPr>
        <p:spPr>
          <a:xfrm>
            <a:off x="1986524" y="3292153"/>
            <a:ext cx="23115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00000F"/>
                </a:solidFill>
                <a:latin typeface="Arial Narrow" panose="020B0606020202030204" pitchFamily="34" charset="0"/>
                <a:cs typeface="Arial" panose="020B0604020202020204" pitchFamily="34" charset="0"/>
              </a:rPr>
              <a:t>0</a:t>
            </a:r>
            <a:endParaRPr lang="en-US" sz="2800" dirty="0">
              <a:solidFill>
                <a:srgbClr val="00000F"/>
              </a:solidFill>
              <a:latin typeface="Arial Narrow" panose="020B060602020203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32E780-4287-ED4C-28DA-85C0B6035522}"/>
              </a:ext>
            </a:extLst>
          </p:cNvPr>
          <p:cNvSpPr txBox="1"/>
          <p:nvPr/>
        </p:nvSpPr>
        <p:spPr>
          <a:xfrm>
            <a:off x="1986524" y="3445668"/>
            <a:ext cx="23115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00000F"/>
                </a:solidFill>
                <a:latin typeface="Arial Narrow" panose="020B0606020202030204" pitchFamily="34" charset="0"/>
                <a:cs typeface="Arial" panose="020B0604020202020204" pitchFamily="34" charset="0"/>
              </a:rPr>
              <a:t>0</a:t>
            </a:r>
            <a:endParaRPr lang="en-US" sz="2800" dirty="0">
              <a:solidFill>
                <a:srgbClr val="00000F"/>
              </a:solidFill>
              <a:latin typeface="Arial Narrow" panose="020B060602020203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31C60BD-0291-7778-1802-C5747A70DD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623"/>
          <a:stretch>
            <a:fillRect/>
          </a:stretch>
        </p:blipFill>
        <p:spPr>
          <a:xfrm>
            <a:off x="9705975" y="4000348"/>
            <a:ext cx="1781175" cy="2786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837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69C4488-4769-5DE3-A7A4-6B033044C7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398" y="0"/>
            <a:ext cx="10815204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D7A8AB-6360-E68C-5103-ED88EB9634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98" y="1"/>
            <a:ext cx="11365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14358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55CC833-F769-5700-2312-61517600E5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3869"/>
            <a:ext cx="12192000" cy="655026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5E28DCC-967A-04BB-A639-6F319F33D2F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981200" y="153869"/>
            <a:ext cx="2933700" cy="65502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25AC6BF-5519-878D-B2F7-E0EDA27C72E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772400" y="157046"/>
            <a:ext cx="4419600" cy="65439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3C9040D-FCF9-A950-34A2-88EAA8E8F3E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147516"/>
            <a:ext cx="1914525" cy="656296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0BBC944-983C-6F31-4943-B4C509BC250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147516"/>
            <a:ext cx="12192000" cy="359580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9168C49-3154-C94E-43EC-4BF45EAEDB6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772398" y="147516"/>
            <a:ext cx="4419600" cy="359580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5046C4A-4B44-B1F3-C561-9D84F28ACC97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150693"/>
            <a:ext cx="4914900" cy="359898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0004037-D7A2-0FF7-6400-DB45D4A58F99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157046"/>
            <a:ext cx="1981198" cy="6556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7835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B7B36-8C17-ACF1-6447-3C34152FA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A3C95-B8B8-A615-3424-CDA1FB17A9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8821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1121</TotalTime>
  <Words>302</Words>
  <Application>Microsoft Office PowerPoint</Application>
  <PresentationFormat>Widescreen</PresentationFormat>
  <Paragraphs>133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Arial Narrow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nana wijaya</dc:creator>
  <cp:lastModifiedBy>nana wijaya</cp:lastModifiedBy>
  <cp:revision>6</cp:revision>
  <dcterms:created xsi:type="dcterms:W3CDTF">2026-07-05T10:56:22Z</dcterms:created>
  <dcterms:modified xsi:type="dcterms:W3CDTF">2026-07-19T13:09:49Z</dcterms:modified>
</cp:coreProperties>
</file>