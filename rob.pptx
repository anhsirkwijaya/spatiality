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FFD8"/>
    <a:srgbClr val="315DEA"/>
    <a:srgbClr val="97DBF2"/>
    <a:srgbClr val="DE9E66"/>
    <a:srgbClr val="EEF1A0"/>
    <a:srgbClr val="D68589"/>
    <a:srgbClr val="828282"/>
    <a:srgbClr val="FBE2D5"/>
    <a:srgbClr val="C0E6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EB815-7EE2-6F56-EEAD-EEA7BD7ED3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74FF8-7F58-A2B3-DA4B-0507AC2A6A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83D8E-D3F1-2E49-E05D-5CB57821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D6074-401C-295E-B4EA-362B40CD8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2AC1A9-C3C4-8D4F-E16F-E206D984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38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4B1D6-9ABA-249B-BFCE-CC91B5211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61EA-69F5-E001-6ADC-2F28304B5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FE880B-8F86-6E67-BA0C-6AB8A9BF2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B7C06C-5470-307A-38F5-B5EFD2848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59FFC-6501-7E1E-19BB-1783E5C06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906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F6273-4927-9166-9E5C-F28A75171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A5C097-5C40-4C8D-8F24-428F559A4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24006-D92A-6FFF-8BB2-147817D6D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6EB2D-6C75-ACF8-851A-F35D2DD22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B6C61-3FBB-BCE0-6C78-AD7E15EB6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99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78F5A-E028-0AFC-17BB-F08E1473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3B9A8-9208-9984-2ADB-AA77A1EC24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FF6B01-57FF-98FB-D953-DF961E802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3C1D53-4FC8-69E2-115E-832FDF317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17139-E781-294B-A67C-D6BFE5EEF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2F636-1BEA-88CA-53B9-FD71F6F16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80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97301-3331-F3BD-9FEA-178264191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D38B-1455-7171-E06D-7B7DEDBB7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B174D-6114-0EDA-9B52-6F2EAA28D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1B4FF1-718A-3C7E-B3F6-2454EC2071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CCBAFE-6EB0-13B8-4055-EAD664D956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79A2B2-9514-999A-97FB-1D0F17D5E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7984D-B449-2D1B-B88B-F7C6C0A56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350A47-4A74-6CD4-A46C-B3ACA88A7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6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9E36B-3459-3777-565C-A4E200AA2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BF6A4D-5FB5-0D27-534F-BBB51EA0F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1F6CDF-62D1-9D2B-C9B5-A4D81836F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2309A1-46FF-6AD5-5BE8-7A8F2B223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45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BB33C4-C0A4-035A-6D0B-5FA94F2CD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7B51CC-CBEE-DEE2-5F82-99093359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15C21-1581-7D15-4354-8301A034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013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330FC-19EF-321D-D6F4-52E03D244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52091-4C64-2AF0-94D2-27DB77875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6A15E7-F954-70E3-3628-63FCD14952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27AF74-713C-F5BB-FCC6-18C489850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4B452C-7C56-9CB5-3C68-4101BC4A8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67E1E4-E56B-1DF7-30D6-217F4846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270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8459-204E-29E4-98B1-3A1EC4CE1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0ACE77-EF6D-F0A5-D833-E3A68A5F00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FD2846-DB69-C0DE-A4DF-68F3EA96E0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8B5B0A-DB11-B082-87FE-B01AB5BDC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15529B-E071-A8CE-8071-73D560F5E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5F612A-DA7D-DEB3-F4A1-3B0161C36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106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57746-2DDE-2882-7879-3F7A6B59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CF5CAE-8817-7C78-847E-1BA6D7B16C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9981E0-01B7-17C4-D1E9-430F5864A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339B13-E116-68B5-77F4-27AA7B3F6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26ED00-DC53-B1DE-E541-F051F6D2A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403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0BA426-5F7C-7F6A-B9E5-25762F079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D53DC1-63CA-B216-7049-3917798B43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8560C-FAA8-B3E7-3D84-6E8B6A888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DC37F-AC24-CE6E-2BED-3C82D3D6A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A2573-C513-3218-F359-67820ADC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27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A2A215-CC25-97F4-7060-CFE631DA2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9B5A26-A930-3E97-9949-D35BA16B9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B6FB9-22CF-BA52-3886-AC20502F96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5B2DEE-4073-4C8E-890A-9D2AA0704961}" type="datetimeFigureOut">
              <a:rPr lang="en-US" smtClean="0"/>
              <a:t>18-Jul-26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B266A-A1DD-6E4C-8469-7A013A17D1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FA1E0-ACEA-490D-7524-520ECE5170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0CF8E0-31C8-49AA-9E1C-2E8E599B6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99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9EB5808-A42C-5446-BE2A-E7862C5B2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871537"/>
            <a:ext cx="3448050" cy="38766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11E9A6-CA55-F723-439B-304201041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0" y="871537"/>
            <a:ext cx="3448050" cy="3876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7F885E-0DE5-47CB-C071-B3066E1405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900" y="871537"/>
            <a:ext cx="3448050" cy="38766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9AFFE3A-D87A-39C7-4ADC-F161A6827977}"/>
              </a:ext>
            </a:extLst>
          </p:cNvPr>
          <p:cNvSpPr txBox="1"/>
          <p:nvPr/>
        </p:nvSpPr>
        <p:spPr>
          <a:xfrm>
            <a:off x="1929450" y="502205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DSM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E073D8-8DAD-2EFA-91CF-B8167780FD6A}"/>
              </a:ext>
            </a:extLst>
          </p:cNvPr>
          <p:cNvSpPr txBox="1"/>
          <p:nvPr/>
        </p:nvSpPr>
        <p:spPr>
          <a:xfrm>
            <a:off x="5589088" y="502205"/>
            <a:ext cx="1261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Start Map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CBBA42-C668-3990-4CB6-00F451990FCE}"/>
              </a:ext>
            </a:extLst>
          </p:cNvPr>
          <p:cNvSpPr txBox="1"/>
          <p:nvPr/>
        </p:nvSpPr>
        <p:spPr>
          <a:xfrm>
            <a:off x="9657395" y="502205"/>
            <a:ext cx="85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Result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65E3AC-51DC-1654-5BE1-2AE2E120D338}"/>
              </a:ext>
            </a:extLst>
          </p:cNvPr>
          <p:cNvSpPr txBox="1"/>
          <p:nvPr/>
        </p:nvSpPr>
        <p:spPr>
          <a:xfrm>
            <a:off x="1763585" y="5117544"/>
            <a:ext cx="7651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Pixel value less than 0.6 m but not part of the result, due to isolated pixels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CCE086-E861-3B5B-2DEB-3888B3A37C04}"/>
              </a:ext>
            </a:extLst>
          </p:cNvPr>
          <p:cNvSpPr txBox="1"/>
          <p:nvPr/>
        </p:nvSpPr>
        <p:spPr>
          <a:xfrm>
            <a:off x="1763585" y="5486876"/>
            <a:ext cx="2158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Iteration start point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395D35-840E-E591-1809-11137240D477}"/>
              </a:ext>
            </a:extLst>
          </p:cNvPr>
          <p:cNvSpPr txBox="1"/>
          <p:nvPr/>
        </p:nvSpPr>
        <p:spPr>
          <a:xfrm>
            <a:off x="1763585" y="5856208"/>
            <a:ext cx="1715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Inundated area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5310A5-D6F0-74C1-5434-978584FC51B3}"/>
              </a:ext>
            </a:extLst>
          </p:cNvPr>
          <p:cNvSpPr txBox="1"/>
          <p:nvPr/>
        </p:nvSpPr>
        <p:spPr>
          <a:xfrm>
            <a:off x="1791002" y="6225540"/>
            <a:ext cx="1111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Safe area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A86414-48E5-907B-9326-DE84F841EE22}"/>
              </a:ext>
            </a:extLst>
          </p:cNvPr>
          <p:cNvSpPr/>
          <p:nvPr/>
        </p:nvSpPr>
        <p:spPr>
          <a:xfrm>
            <a:off x="1371600" y="5165943"/>
            <a:ext cx="272534" cy="2725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038080-7334-1C1F-450D-0D41EE88A97F}"/>
              </a:ext>
            </a:extLst>
          </p:cNvPr>
          <p:cNvSpPr/>
          <p:nvPr/>
        </p:nvSpPr>
        <p:spPr>
          <a:xfrm>
            <a:off x="1371600" y="5535275"/>
            <a:ext cx="272534" cy="2725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883350-054A-B2C9-4384-D49FD1DB4762}"/>
              </a:ext>
            </a:extLst>
          </p:cNvPr>
          <p:cNvSpPr/>
          <p:nvPr/>
        </p:nvSpPr>
        <p:spPr>
          <a:xfrm>
            <a:off x="1371600" y="5904607"/>
            <a:ext cx="272534" cy="272534"/>
          </a:xfrm>
          <a:prstGeom prst="rect">
            <a:avLst/>
          </a:prstGeom>
          <a:solidFill>
            <a:srgbClr val="C0E6F5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0AE0E-2839-D18A-94A3-2B0135DBC26D}"/>
              </a:ext>
            </a:extLst>
          </p:cNvPr>
          <p:cNvSpPr/>
          <p:nvPr/>
        </p:nvSpPr>
        <p:spPr>
          <a:xfrm>
            <a:off x="1371600" y="6273939"/>
            <a:ext cx="272534" cy="272534"/>
          </a:xfrm>
          <a:prstGeom prst="rect">
            <a:avLst/>
          </a:prstGeom>
          <a:solidFill>
            <a:srgbClr val="FBE2D5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258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A6FF4D-7B96-3183-67F0-76C2B66C9A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" t="6666" r="37517" b="2639"/>
          <a:stretch>
            <a:fillRect/>
          </a:stretch>
        </p:blipFill>
        <p:spPr>
          <a:xfrm>
            <a:off x="600075" y="361950"/>
            <a:ext cx="5867400" cy="6219825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BA0F218B-0581-78A6-AE17-BD7FC7D02013}"/>
              </a:ext>
            </a:extLst>
          </p:cNvPr>
          <p:cNvSpPr/>
          <p:nvPr/>
        </p:nvSpPr>
        <p:spPr>
          <a:xfrm>
            <a:off x="3343276" y="671126"/>
            <a:ext cx="2848340" cy="763216"/>
          </a:xfrm>
          <a:prstGeom prst="rect">
            <a:avLst/>
          </a:prstGeom>
          <a:solidFill>
            <a:srgbClr val="82828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2B1D06-BC1F-EBD7-E03F-A378E222314D}"/>
              </a:ext>
            </a:extLst>
          </p:cNvPr>
          <p:cNvSpPr/>
          <p:nvPr/>
        </p:nvSpPr>
        <p:spPr>
          <a:xfrm>
            <a:off x="3429000" y="727799"/>
            <a:ext cx="272534" cy="163652"/>
          </a:xfrm>
          <a:prstGeom prst="rect">
            <a:avLst/>
          </a:prstGeom>
          <a:solidFill>
            <a:srgbClr val="8282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BCD925-D29C-3953-CD59-142BA81E4E57}"/>
              </a:ext>
            </a:extLst>
          </p:cNvPr>
          <p:cNvSpPr/>
          <p:nvPr/>
        </p:nvSpPr>
        <p:spPr>
          <a:xfrm>
            <a:off x="3429000" y="970909"/>
            <a:ext cx="272534" cy="163652"/>
          </a:xfrm>
          <a:prstGeom prst="rect">
            <a:avLst/>
          </a:prstGeom>
          <a:solidFill>
            <a:srgbClr val="D685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DB85D2-D3A5-CEB9-1014-98E745F60000}"/>
              </a:ext>
            </a:extLst>
          </p:cNvPr>
          <p:cNvSpPr/>
          <p:nvPr/>
        </p:nvSpPr>
        <p:spPr>
          <a:xfrm>
            <a:off x="3425309" y="1214019"/>
            <a:ext cx="272534" cy="163652"/>
          </a:xfrm>
          <a:prstGeom prst="rect">
            <a:avLst/>
          </a:prstGeom>
          <a:solidFill>
            <a:srgbClr val="EEF1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8AD1A2-0EC1-B8CB-967C-326755285A89}"/>
              </a:ext>
            </a:extLst>
          </p:cNvPr>
          <p:cNvSpPr/>
          <p:nvPr/>
        </p:nvSpPr>
        <p:spPr>
          <a:xfrm>
            <a:off x="4699517" y="727799"/>
            <a:ext cx="272534" cy="163652"/>
          </a:xfrm>
          <a:prstGeom prst="rect">
            <a:avLst/>
          </a:prstGeom>
          <a:solidFill>
            <a:srgbClr val="DE9E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0E9155-9BBE-27B0-8BA4-70ABC3DB43F8}"/>
              </a:ext>
            </a:extLst>
          </p:cNvPr>
          <p:cNvSpPr/>
          <p:nvPr/>
        </p:nvSpPr>
        <p:spPr>
          <a:xfrm>
            <a:off x="4699517" y="970909"/>
            <a:ext cx="272534" cy="163652"/>
          </a:xfrm>
          <a:prstGeom prst="rect">
            <a:avLst/>
          </a:prstGeom>
          <a:solidFill>
            <a:srgbClr val="97DBF2"/>
          </a:solidFill>
          <a:ln w="6350">
            <a:solidFill>
              <a:srgbClr val="315D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15CEA4-7593-D6B2-7805-E6F9FD50D78D}"/>
              </a:ext>
            </a:extLst>
          </p:cNvPr>
          <p:cNvSpPr/>
          <p:nvPr/>
        </p:nvSpPr>
        <p:spPr>
          <a:xfrm>
            <a:off x="4699517" y="1214019"/>
            <a:ext cx="272534" cy="163652"/>
          </a:xfrm>
          <a:prstGeom prst="rect">
            <a:avLst/>
          </a:prstGeom>
          <a:solidFill>
            <a:srgbClr val="E5FFD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E8DFAD-0006-FFFE-3A76-9337D167B700}"/>
              </a:ext>
            </a:extLst>
          </p:cNvPr>
          <p:cNvSpPr txBox="1"/>
          <p:nvPr/>
        </p:nvSpPr>
        <p:spPr>
          <a:xfrm>
            <a:off x="3701534" y="671126"/>
            <a:ext cx="7393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Building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7EEEDC-1B98-4AC6-493F-ED7FAE764166}"/>
              </a:ext>
            </a:extLst>
          </p:cNvPr>
          <p:cNvSpPr txBox="1"/>
          <p:nvPr/>
        </p:nvSpPr>
        <p:spPr>
          <a:xfrm>
            <a:off x="3713976" y="914235"/>
            <a:ext cx="5292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Road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FC8BF2-185B-2475-D0A3-5C9B3E6889E1}"/>
              </a:ext>
            </a:extLst>
          </p:cNvPr>
          <p:cNvSpPr txBox="1"/>
          <p:nvPr/>
        </p:nvSpPr>
        <p:spPr>
          <a:xfrm>
            <a:off x="3713976" y="1157344"/>
            <a:ext cx="8526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Bare Land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4ED371-91A1-4DA4-C522-57E377C6FFCA}"/>
              </a:ext>
            </a:extLst>
          </p:cNvPr>
          <p:cNvSpPr txBox="1"/>
          <p:nvPr/>
        </p:nvSpPr>
        <p:spPr>
          <a:xfrm>
            <a:off x="4958585" y="671126"/>
            <a:ext cx="8066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Fishpond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940DDD-40B8-ADB2-048B-49D1ACEF6966}"/>
              </a:ext>
            </a:extLst>
          </p:cNvPr>
          <p:cNvSpPr txBox="1"/>
          <p:nvPr/>
        </p:nvSpPr>
        <p:spPr>
          <a:xfrm>
            <a:off x="4958585" y="909457"/>
            <a:ext cx="972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Water body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A6915F-2739-26C5-97C9-B4A9E3075AB5}"/>
              </a:ext>
            </a:extLst>
          </p:cNvPr>
          <p:cNvSpPr txBox="1"/>
          <p:nvPr/>
        </p:nvSpPr>
        <p:spPr>
          <a:xfrm>
            <a:off x="4958585" y="1157343"/>
            <a:ext cx="12330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Tidal Flood 1 m</a:t>
            </a:r>
          </a:p>
        </p:txBody>
      </p:sp>
      <p:pic>
        <p:nvPicPr>
          <p:cNvPr id="38" name="Picture 3">
            <a:extLst>
              <a:ext uri="{FF2B5EF4-FFF2-40B4-BE49-F238E27FC236}">
                <a16:creationId xmlns:a16="http://schemas.microsoft.com/office/drawing/2014/main" id="{53585917-4BAB-939E-C084-715605E349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63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47379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B94163-23F9-405C-BC23-9758F4439C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76" y="3853980"/>
            <a:ext cx="2851620" cy="28516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3782A-45D0-21B8-1ED3-ED593C8E06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256" y="153054"/>
            <a:ext cx="2832465" cy="2832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1479D7B-1E8C-66A8-4ACF-323A247C3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9933" y="158283"/>
            <a:ext cx="2851620" cy="28516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FEED98-D14C-3209-BE09-278D3EF18B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25" y="152400"/>
            <a:ext cx="2830071" cy="283007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0A845F-107C-7AD0-06BC-4259328E23C9}"/>
              </a:ext>
            </a:extLst>
          </p:cNvPr>
          <p:cNvSpPr txBox="1"/>
          <p:nvPr/>
        </p:nvSpPr>
        <p:spPr>
          <a:xfrm>
            <a:off x="1330069" y="3004020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Zone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DF35C6-0F04-0695-43FE-A237DC2FDC52}"/>
              </a:ext>
            </a:extLst>
          </p:cNvPr>
          <p:cNvSpPr txBox="1"/>
          <p:nvPr/>
        </p:nvSpPr>
        <p:spPr>
          <a:xfrm>
            <a:off x="5149071" y="3059668"/>
            <a:ext cx="1426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Value Raster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47E882-1B7B-2F6B-1120-7729038321D0}"/>
              </a:ext>
            </a:extLst>
          </p:cNvPr>
          <p:cNvSpPr txBox="1"/>
          <p:nvPr/>
        </p:nvSpPr>
        <p:spPr>
          <a:xfrm>
            <a:off x="8682599" y="3059668"/>
            <a:ext cx="1604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Output Raster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3BC606-3C0C-5D36-416C-C2E839F6A890}"/>
              </a:ext>
            </a:extLst>
          </p:cNvPr>
          <p:cNvSpPr txBox="1"/>
          <p:nvPr/>
        </p:nvSpPr>
        <p:spPr>
          <a:xfrm>
            <a:off x="3272646" y="5095124"/>
            <a:ext cx="1426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Value Raster</a:t>
            </a:r>
          </a:p>
        </p:txBody>
      </p:sp>
    </p:spTree>
    <p:extLst>
      <p:ext uri="{BB962C8B-B14F-4D97-AF65-F5344CB8AC3E}">
        <p14:creationId xmlns:p14="http://schemas.microsoft.com/office/powerpoint/2010/main" val="209014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DB4B4F24-1E20-1247-7BD1-A3B9F9C31EFB}"/>
              </a:ext>
            </a:extLst>
          </p:cNvPr>
          <p:cNvSpPr txBox="1"/>
          <p:nvPr/>
        </p:nvSpPr>
        <p:spPr>
          <a:xfrm>
            <a:off x="1319122" y="3025557"/>
            <a:ext cx="9733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Zone Raster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85D96D-C8BB-B097-99B5-F54B8322AB49}"/>
              </a:ext>
            </a:extLst>
          </p:cNvPr>
          <p:cNvSpPr txBox="1"/>
          <p:nvPr/>
        </p:nvSpPr>
        <p:spPr>
          <a:xfrm>
            <a:off x="4697453" y="3025557"/>
            <a:ext cx="10118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Value Raster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D475998-2FD7-602D-FA2D-AF7437604F3B}"/>
              </a:ext>
            </a:extLst>
          </p:cNvPr>
          <p:cNvSpPr txBox="1"/>
          <p:nvPr/>
        </p:nvSpPr>
        <p:spPr>
          <a:xfrm>
            <a:off x="4646157" y="6242923"/>
            <a:ext cx="11144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Output Raster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7E3027-D547-C75A-59C7-B3DABC1AE99F}"/>
              </a:ext>
            </a:extLst>
          </p:cNvPr>
          <p:cNvSpPr txBox="1"/>
          <p:nvPr/>
        </p:nvSpPr>
        <p:spPr>
          <a:xfrm>
            <a:off x="750858" y="6242923"/>
            <a:ext cx="21098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Value Raster with Input Zone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428F965E-98AA-07A0-CD5D-33717B349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087" y="230743"/>
            <a:ext cx="2876550" cy="277576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018D9BD-F289-0821-4B80-32186CDA3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1" y="3441442"/>
            <a:ext cx="2876550" cy="27813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3EB1482-6514-4A6C-73AC-0F0660BE4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5087" y="3441442"/>
            <a:ext cx="2876550" cy="27813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169AC960-70F3-C7D1-1B2C-20FE6225E61B}"/>
              </a:ext>
            </a:extLst>
          </p:cNvPr>
          <p:cNvSpPr txBox="1"/>
          <p:nvPr/>
        </p:nvSpPr>
        <p:spPr>
          <a:xfrm>
            <a:off x="6734175" y="230743"/>
            <a:ext cx="16497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Remark Value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1- Natural Vegetation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2 - Water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3 - Settlement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4 - Bare land</a:t>
            </a:r>
          </a:p>
          <a:p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5 - Plantation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7E313E46-FAAE-D4D9-D789-C1DA9B01B1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21" y="230743"/>
            <a:ext cx="2876550" cy="2781300"/>
          </a:xfrm>
          <a:prstGeom prst="rect">
            <a:avLst/>
          </a:prstGeom>
        </p:spPr>
      </p:pic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D485969E-D3C2-A9DF-0D35-536BE851D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245044"/>
              </p:ext>
            </p:extLst>
          </p:nvPr>
        </p:nvGraphicFramePr>
        <p:xfrm>
          <a:off x="6959600" y="2336542"/>
          <a:ext cx="5232400" cy="1104900"/>
        </p:xfrm>
        <a:graphic>
          <a:graphicData uri="http://schemas.openxmlformats.org/drawingml/2006/table">
            <a:tbl>
              <a:tblPr/>
              <a:tblGrid>
                <a:gridCol w="533400">
                  <a:extLst>
                    <a:ext uri="{9D8B030D-6E8A-4147-A177-3AD203B41FA5}">
                      <a16:colId xmlns:a16="http://schemas.microsoft.com/office/drawing/2014/main" val="3647774015"/>
                    </a:ext>
                  </a:extLst>
                </a:gridCol>
                <a:gridCol w="546100">
                  <a:extLst>
                    <a:ext uri="{9D8B030D-6E8A-4147-A177-3AD203B41FA5}">
                      <a16:colId xmlns:a16="http://schemas.microsoft.com/office/drawing/2014/main" val="2581305539"/>
                    </a:ext>
                  </a:extLst>
                </a:gridCol>
                <a:gridCol w="698500">
                  <a:extLst>
                    <a:ext uri="{9D8B030D-6E8A-4147-A177-3AD203B41FA5}">
                      <a16:colId xmlns:a16="http://schemas.microsoft.com/office/drawing/2014/main" val="101317267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055245637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851156038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84086950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1763400996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Zone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Count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Variety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Majority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Majority %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Minority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t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Minority %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811979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83.3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16.7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2311377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87.5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25.0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38541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FF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53.8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                 7.7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6612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1292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D153C-0669-D2C9-7B0E-9AF5339D8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C50A4DD1-0B49-5C2A-DC90-3E48EB7D29F2}"/>
              </a:ext>
            </a:extLst>
          </p:cNvPr>
          <p:cNvSpPr txBox="1"/>
          <p:nvPr/>
        </p:nvSpPr>
        <p:spPr>
          <a:xfrm>
            <a:off x="1319122" y="3025557"/>
            <a:ext cx="9733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Zone Raster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DF1F65-36A7-BF9F-C62F-9C05FEDE500D}"/>
              </a:ext>
            </a:extLst>
          </p:cNvPr>
          <p:cNvSpPr txBox="1"/>
          <p:nvPr/>
        </p:nvSpPr>
        <p:spPr>
          <a:xfrm>
            <a:off x="4697453" y="3025557"/>
            <a:ext cx="10118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Value Raster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507E745-71A8-9823-3E40-483D42A34236}"/>
              </a:ext>
            </a:extLst>
          </p:cNvPr>
          <p:cNvSpPr txBox="1"/>
          <p:nvPr/>
        </p:nvSpPr>
        <p:spPr>
          <a:xfrm>
            <a:off x="1240988" y="6372315"/>
            <a:ext cx="11144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Output Raster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E4E6417-5FE1-9015-556F-3B07CBC41BEE}"/>
              </a:ext>
            </a:extLst>
          </p:cNvPr>
          <p:cNvSpPr txBox="1"/>
          <p:nvPr/>
        </p:nvSpPr>
        <p:spPr>
          <a:xfrm>
            <a:off x="7545990" y="3026688"/>
            <a:ext cx="210987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Value Raster with Input Zone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98D6187B-7439-E11E-E9F5-4350F66CD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087" y="230743"/>
            <a:ext cx="2876550" cy="277576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26F2DF2-79A7-0174-E8AB-70BF7ADDF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653" y="225207"/>
            <a:ext cx="2876550" cy="27813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56BFFC7-FC52-5E96-F644-64D8DA5B7B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18" y="3570834"/>
            <a:ext cx="2876550" cy="27813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D934C0FE-C555-D3A6-62BF-ED6977BA987E}"/>
              </a:ext>
            </a:extLst>
          </p:cNvPr>
          <p:cNvSpPr txBox="1"/>
          <p:nvPr/>
        </p:nvSpPr>
        <p:spPr>
          <a:xfrm>
            <a:off x="6951179" y="3501791"/>
            <a:ext cx="153920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Remark Value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1- Natural Vegetation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2 - Water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3 - Settlement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4 - Bare land</a:t>
            </a:r>
          </a:p>
          <a:p>
            <a:r>
              <a:rPr lang="en-US" sz="1100" dirty="0">
                <a:latin typeface="Segoe UI" panose="020B0502040204020203" pitchFamily="34" charset="0"/>
                <a:cs typeface="Segoe UI" panose="020B0502040204020203" pitchFamily="34" charset="0"/>
              </a:rPr>
              <a:t>5 - Plantation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FEDCD038-0192-09AA-A66B-72C88936D0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21" y="230743"/>
            <a:ext cx="2876550" cy="2781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34CA61-22B0-71F3-D0BD-F0A6863A67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5087" y="3570834"/>
            <a:ext cx="2876550" cy="27915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DCBA8B-36E0-9604-4FE6-C45BD3FE9A80}"/>
              </a:ext>
            </a:extLst>
          </p:cNvPr>
          <p:cNvSpPr txBox="1"/>
          <p:nvPr/>
        </p:nvSpPr>
        <p:spPr>
          <a:xfrm>
            <a:off x="4089112" y="6384429"/>
            <a:ext cx="22284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Output Raster (Majority Value)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E087BE-330F-6E92-54F7-83B9558927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8902941"/>
              </p:ext>
            </p:extLst>
          </p:nvPr>
        </p:nvGraphicFramePr>
        <p:xfrm>
          <a:off x="7016453" y="4915614"/>
          <a:ext cx="2717800" cy="1466850"/>
        </p:xfrm>
        <a:graphic>
          <a:graphicData uri="http://schemas.openxmlformats.org/drawingml/2006/table">
            <a:tbl>
              <a:tblPr/>
              <a:tblGrid>
                <a:gridCol w="938703">
                  <a:extLst>
                    <a:ext uri="{9D8B030D-6E8A-4147-A177-3AD203B41FA5}">
                      <a16:colId xmlns:a16="http://schemas.microsoft.com/office/drawing/2014/main" val="1877058027"/>
                    </a:ext>
                  </a:extLst>
                </a:gridCol>
                <a:gridCol w="482037">
                  <a:extLst>
                    <a:ext uri="{9D8B030D-6E8A-4147-A177-3AD203B41FA5}">
                      <a16:colId xmlns:a16="http://schemas.microsoft.com/office/drawing/2014/main" val="253210415"/>
                    </a:ext>
                  </a:extLst>
                </a:gridCol>
                <a:gridCol w="599375">
                  <a:extLst>
                    <a:ext uri="{9D8B030D-6E8A-4147-A177-3AD203B41FA5}">
                      <a16:colId xmlns:a16="http://schemas.microsoft.com/office/drawing/2014/main" val="3435440439"/>
                    </a:ext>
                  </a:extLst>
                </a:gridCol>
                <a:gridCol w="697685">
                  <a:extLst>
                    <a:ext uri="{9D8B030D-6E8A-4147-A177-3AD203B41FA5}">
                      <a16:colId xmlns:a16="http://schemas.microsoft.com/office/drawing/2014/main" val="1727699070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FFFFFF"/>
                          </a:solidFill>
                          <a:effectLst/>
                          <a:latin typeface="Segoe UI" panose="020B0502040204020203" pitchFamily="34" charset="0"/>
                        </a:rPr>
                        <a:t>Zone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FFFFFF"/>
                          </a:solidFill>
                          <a:effectLst/>
                          <a:latin typeface="Segoe UI" panose="020B0502040204020203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Segoe UI" panose="020B0502040204020203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FFFFFF"/>
                          </a:solidFill>
                          <a:effectLst/>
                          <a:latin typeface="Segoe UI" panose="020B0502040204020203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958538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Count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08235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Variety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231188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Majority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69656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Majority 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83.3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87.5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FF0000"/>
                          </a:solidFill>
                          <a:effectLst/>
                          <a:latin typeface="Segoe UI" panose="020B0502040204020203" pitchFamily="34" charset="0"/>
                        </a:rPr>
                        <a:t>53.8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50598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Minority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638333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D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Minority 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16.67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D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7.7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79704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7E01267-62AD-03A2-02F5-F00CA4B79DFC}"/>
              </a:ext>
            </a:extLst>
          </p:cNvPr>
          <p:cNvSpPr txBox="1"/>
          <p:nvPr/>
        </p:nvSpPr>
        <p:spPr>
          <a:xfrm>
            <a:off x="6951179" y="4632029"/>
            <a:ext cx="11608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Segoe UI" panose="020B0502040204020203" pitchFamily="34" charset="0"/>
                <a:cs typeface="Segoe UI" panose="020B0502040204020203" pitchFamily="34" charset="0"/>
              </a:rPr>
              <a:t>Statistic Result</a:t>
            </a:r>
          </a:p>
        </p:txBody>
      </p:sp>
    </p:spTree>
    <p:extLst>
      <p:ext uri="{BB962C8B-B14F-4D97-AF65-F5344CB8AC3E}">
        <p14:creationId xmlns:p14="http://schemas.microsoft.com/office/powerpoint/2010/main" val="634181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1121</TotalTime>
  <Words>178</Words>
  <Application>Microsoft Office PowerPoint</Application>
  <PresentationFormat>Widescreen</PresentationFormat>
  <Paragraphs>95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nana wijaya</dc:creator>
  <cp:lastModifiedBy>nana wijaya</cp:lastModifiedBy>
  <cp:revision>4</cp:revision>
  <dcterms:created xsi:type="dcterms:W3CDTF">2026-07-05T10:56:22Z</dcterms:created>
  <dcterms:modified xsi:type="dcterms:W3CDTF">2026-07-18T09:01:41Z</dcterms:modified>
</cp:coreProperties>
</file>