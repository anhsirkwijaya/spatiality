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2832" y="1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B8EF9-7821-8543-CE38-65E81B6607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4EEE33-BD9E-92F5-1EE5-B63EE05759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8C3E38-8D5D-ADB5-6447-8D9E421CA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17E01-59E7-4A5C-A85D-D08D5F91E0DA}" type="datetimeFigureOut">
              <a:rPr lang="en-US" smtClean="0"/>
              <a:t>23-Jul-26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0EC1E-7D84-7E6B-4252-95F42D084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5495D-0FE0-69D6-7B98-13E98DC3D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4905A-4851-4A40-8CF0-017D738CA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871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BDF5C-5CAF-2979-3848-131CA0AF8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61988-6167-43CC-D1B5-D6EE97720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E11945-4BC5-FE7C-6147-118CCFEC6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17E01-59E7-4A5C-A85D-D08D5F91E0DA}" type="datetimeFigureOut">
              <a:rPr lang="en-US" smtClean="0"/>
              <a:t>23-Jul-26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4C40CC-1352-A5C4-729D-24A736F67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84199-64E7-EE09-7646-36FDEDF6D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4905A-4851-4A40-8CF0-017D738CA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004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714CC-35B0-8752-1E7A-9D40C47C1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FF5B5F-F8EF-E10A-2040-1C59C3A45E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9A848-913B-4BA7-84CC-4E013A14F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17E01-59E7-4A5C-A85D-D08D5F91E0DA}" type="datetimeFigureOut">
              <a:rPr lang="en-US" smtClean="0"/>
              <a:t>23-Jul-26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950BA-62F7-8434-DEFF-F13C1400E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530F5A-0AF4-D6EE-42E4-0B88596BD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4905A-4851-4A40-8CF0-017D738CA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584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24841-B1C2-85F9-01AD-29BE25EA5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A63DA-244D-3888-8D3E-CBAE4FD5E2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811AC8-0127-CEEC-AD3E-A58B611124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E30DB-76E3-03D0-08F1-311989555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17E01-59E7-4A5C-A85D-D08D5F91E0DA}" type="datetimeFigureOut">
              <a:rPr lang="en-US" smtClean="0"/>
              <a:t>23-Jul-26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7BDBA5-11CA-9020-23F4-D34825A9F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07AE40-7948-031F-7DA1-9E328C0DC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4905A-4851-4A40-8CF0-017D738CA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76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38179-B4BA-3D71-1DDF-C98EECC49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606E4A-9883-8E26-909D-7D2FB26EAC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308C29-57A3-3CA1-3ADF-9155C8FC1B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BD14AB-2162-E923-C479-19863F747E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2914D8-4EBA-5989-9C7A-6252912D6B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C87D81-FE2F-A625-949C-F72549EF4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17E01-59E7-4A5C-A85D-D08D5F91E0DA}" type="datetimeFigureOut">
              <a:rPr lang="en-US" smtClean="0"/>
              <a:t>23-Jul-26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D52EC1-44BD-31F1-6D0A-B5003B501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57F035-D637-8FF0-C754-0B688364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4905A-4851-4A40-8CF0-017D738CA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911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BB2D8-5218-6916-DA7B-5F820D9DF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BEAD81-9AC6-D769-1906-C7D1605AF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17E01-59E7-4A5C-A85D-D08D5F91E0DA}" type="datetimeFigureOut">
              <a:rPr lang="en-US" smtClean="0"/>
              <a:t>23-Jul-26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30BBBE-8721-3E2E-71C9-C0B8051C4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6D324E-A0E2-C9ED-9800-16FB4A832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4905A-4851-4A40-8CF0-017D738CA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54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F52FE2-A75E-37A8-D48A-1B0FCA78E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17E01-59E7-4A5C-A85D-D08D5F91E0DA}" type="datetimeFigureOut">
              <a:rPr lang="en-US" smtClean="0"/>
              <a:t>23-Jul-26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116AC8-C752-BA9A-0C21-668FBFF30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C531EF-853A-FC72-DAD6-DB578A727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4905A-4851-4A40-8CF0-017D738CA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402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1AF39-831B-12F4-2927-276C81DDF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25C20-84EE-52C6-03B6-FA34228FE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6F90FA-DC2A-309D-3DC9-A5F758D1E7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34CC8A-52CF-4B67-0187-F0876ECDD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17E01-59E7-4A5C-A85D-D08D5F91E0DA}" type="datetimeFigureOut">
              <a:rPr lang="en-US" smtClean="0"/>
              <a:t>23-Jul-26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F1781D-F905-5CC7-3684-01AC652D6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29206D-8C97-F831-9928-008239757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4905A-4851-4A40-8CF0-017D738CA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908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95E68-C725-BC3A-C03E-A606D2A79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65C2AE-B6D5-1962-5D50-65098B97DD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D4A7C9-E7EC-EB22-4977-74A3A01F1D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1C5EA8-1BEE-D504-EE72-90CF78557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17E01-59E7-4A5C-A85D-D08D5F91E0DA}" type="datetimeFigureOut">
              <a:rPr lang="en-US" smtClean="0"/>
              <a:t>23-Jul-26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E35CE2-D112-4338-D7DE-63A3BB96B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C5CD8D-5F42-FAFB-EFF0-DBEA7A8EE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4905A-4851-4A40-8CF0-017D738CA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482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C3F57-563A-F117-9AC7-66D719008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F08594-B05A-2C94-8E49-02EBC8EE50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A42B1-1050-4D5C-9E81-3E69F7782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17E01-59E7-4A5C-A85D-D08D5F91E0DA}" type="datetimeFigureOut">
              <a:rPr lang="en-US" smtClean="0"/>
              <a:t>23-Jul-26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D7CB2F-2D27-8C6B-A3BE-22065E7D0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0EF43F-BE75-B151-9920-6166178F5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4905A-4851-4A40-8CF0-017D738CA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869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C37E19-EF9C-EA22-5EF5-E8429F7EAA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ED3E7C-5AF5-8728-E499-86A3902038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4F6C32-5C48-B1D6-50EF-EA6A0FD6F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17E01-59E7-4A5C-A85D-D08D5F91E0DA}" type="datetimeFigureOut">
              <a:rPr lang="en-US" smtClean="0"/>
              <a:t>23-Jul-26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17A8D-EFB0-9CC0-038C-0201EAFEA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CB373-C54B-A22D-0C40-0CAF4CBA5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4905A-4851-4A40-8CF0-017D738CA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18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6D8BFA-1854-AE4C-5A95-EEF298681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F1093F-F3F5-0842-61AB-910BBD793B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5924D-4A1F-0E75-999C-6BEF6573E9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517E01-59E7-4A5C-A85D-D08D5F91E0DA}" type="datetimeFigureOut">
              <a:rPr lang="en-US" smtClean="0"/>
              <a:t>23-Jul-26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32F3E-0521-D5D4-0E5F-E0BE89E7DC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01ACE-437D-FA74-5BFD-85E88B5B82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E4905A-4851-4A40-8CF0-017D738CA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151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954808-6583-AFBA-0BAC-2A1969F10A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13736"/>
            <a:ext cx="12192000" cy="1188547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E717A42-C9CE-52F9-64FB-94EFF1ACABFA}"/>
              </a:ext>
            </a:extLst>
          </p:cNvPr>
          <p:cNvSpPr/>
          <p:nvPr/>
        </p:nvSpPr>
        <p:spPr>
          <a:xfrm>
            <a:off x="990600" y="-2266230"/>
            <a:ext cx="5651500" cy="622300"/>
          </a:xfrm>
          <a:prstGeom prst="rect">
            <a:avLst/>
          </a:prstGeom>
          <a:solidFill>
            <a:srgbClr val="0029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3E05AB-59DE-4FE6-6FDE-20213F0813FB}"/>
              </a:ext>
            </a:extLst>
          </p:cNvPr>
          <p:cNvSpPr txBox="1"/>
          <p:nvPr/>
        </p:nvSpPr>
        <p:spPr>
          <a:xfrm>
            <a:off x="1094821" y="-2228705"/>
            <a:ext cx="45089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LIVE PALM LOCATION 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54CD550-A43D-C4BA-EE60-1FFAF04DC215}"/>
              </a:ext>
            </a:extLst>
          </p:cNvPr>
          <p:cNvSpPr/>
          <p:nvPr/>
        </p:nvSpPr>
        <p:spPr>
          <a:xfrm>
            <a:off x="9664764" y="-951503"/>
            <a:ext cx="692818" cy="47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2E1E309-EAC6-5818-E85E-4D162CFB7788}"/>
              </a:ext>
            </a:extLst>
          </p:cNvPr>
          <p:cNvSpPr txBox="1"/>
          <p:nvPr/>
        </p:nvSpPr>
        <p:spPr>
          <a:xfrm>
            <a:off x="9654905" y="-940772"/>
            <a:ext cx="4956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Road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956E59A-31CD-795C-2132-F77CD2A41C0B}"/>
              </a:ext>
            </a:extLst>
          </p:cNvPr>
          <p:cNvSpPr/>
          <p:nvPr/>
        </p:nvSpPr>
        <p:spPr>
          <a:xfrm>
            <a:off x="10942505" y="-951503"/>
            <a:ext cx="1068520" cy="47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DBF3742-F06D-4988-2A64-A7FC5BF818E2}"/>
              </a:ext>
            </a:extLst>
          </p:cNvPr>
          <p:cNvSpPr txBox="1"/>
          <p:nvPr/>
        </p:nvSpPr>
        <p:spPr>
          <a:xfrm>
            <a:off x="10858166" y="-951503"/>
            <a:ext cx="125867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Project Coverage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07CA653-00E6-B649-A0B1-F7EE06EDF6F0}"/>
              </a:ext>
            </a:extLst>
          </p:cNvPr>
          <p:cNvSpPr txBox="1"/>
          <p:nvPr/>
        </p:nvSpPr>
        <p:spPr>
          <a:xfrm>
            <a:off x="9654905" y="-724406"/>
            <a:ext cx="4940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River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5799BA5-4765-A816-9356-9BBCD6970436}"/>
              </a:ext>
            </a:extLst>
          </p:cNvPr>
          <p:cNvSpPr/>
          <p:nvPr/>
        </p:nvSpPr>
        <p:spPr>
          <a:xfrm>
            <a:off x="9715649" y="-123111"/>
            <a:ext cx="1957510" cy="16853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4A015E5-97C1-3FED-8712-E624E0573FA4}"/>
              </a:ext>
            </a:extLst>
          </p:cNvPr>
          <p:cNvSpPr txBox="1"/>
          <p:nvPr/>
        </p:nvSpPr>
        <p:spPr>
          <a:xfrm>
            <a:off x="9654905" y="-123111"/>
            <a:ext cx="23118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Other Land Utilization (Non Forest)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2966AC4-21A7-A343-4680-C7E1D172F5D1}"/>
              </a:ext>
            </a:extLst>
          </p:cNvPr>
          <p:cNvSpPr txBox="1"/>
          <p:nvPr/>
        </p:nvSpPr>
        <p:spPr>
          <a:xfrm>
            <a:off x="9654905" y="121622"/>
            <a:ext cx="12907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Conservation Area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B6F822A-F525-AD24-B8C3-3C68D03CD8AB}"/>
              </a:ext>
            </a:extLst>
          </p:cNvPr>
          <p:cNvSpPr txBox="1"/>
          <p:nvPr/>
        </p:nvSpPr>
        <p:spPr>
          <a:xfrm>
            <a:off x="9654905" y="367842"/>
            <a:ext cx="17524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Marine Conservation Area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08F8235-9A6F-A7DF-84C1-8AFE57654DFF}"/>
              </a:ext>
            </a:extLst>
          </p:cNvPr>
          <p:cNvSpPr txBox="1"/>
          <p:nvPr/>
        </p:nvSpPr>
        <p:spPr>
          <a:xfrm>
            <a:off x="9654905" y="593524"/>
            <a:ext cx="11785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Protected Forest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AA8D2B2-CE82-CBD6-5E28-F108C71DD747}"/>
              </a:ext>
            </a:extLst>
          </p:cNvPr>
          <p:cNvSpPr txBox="1"/>
          <p:nvPr/>
        </p:nvSpPr>
        <p:spPr>
          <a:xfrm>
            <a:off x="9654905" y="852411"/>
            <a:ext cx="126028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Production Forest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43F3D85-D92C-8C1E-CEF6-2B6E78B01FE2}"/>
              </a:ext>
            </a:extLst>
          </p:cNvPr>
          <p:cNvSpPr txBox="1"/>
          <p:nvPr/>
        </p:nvSpPr>
        <p:spPr>
          <a:xfrm>
            <a:off x="9654905" y="1092247"/>
            <a:ext cx="17508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Limited Production Forest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E78E872-BF64-F3A1-3848-70AABA50CB64}"/>
              </a:ext>
            </a:extLst>
          </p:cNvPr>
          <p:cNvSpPr txBox="1"/>
          <p:nvPr/>
        </p:nvSpPr>
        <p:spPr>
          <a:xfrm>
            <a:off x="9654905" y="1315995"/>
            <a:ext cx="19928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Convertible Production Forest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BF7B279-7D0F-2691-468B-0352945A9CBB}"/>
              </a:ext>
            </a:extLst>
          </p:cNvPr>
          <p:cNvSpPr txBox="1"/>
          <p:nvPr/>
        </p:nvSpPr>
        <p:spPr>
          <a:xfrm>
            <a:off x="10694404" y="-2266230"/>
            <a:ext cx="1160318" cy="584775"/>
          </a:xfrm>
          <a:prstGeom prst="rect">
            <a:avLst/>
          </a:prstGeom>
          <a:solidFill>
            <a:srgbClr val="00296B"/>
          </a:solidFill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RIAU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249ACD9-6DFA-D4C7-7B3D-655260D40640}"/>
              </a:ext>
            </a:extLst>
          </p:cNvPr>
          <p:cNvSpPr txBox="1"/>
          <p:nvPr/>
        </p:nvSpPr>
        <p:spPr>
          <a:xfrm>
            <a:off x="10866088" y="-705460"/>
            <a:ext cx="6928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Oil Palm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7DEE3AF8-9615-DC15-B733-8F46D3E29334}"/>
              </a:ext>
            </a:extLst>
          </p:cNvPr>
          <p:cNvSpPr/>
          <p:nvPr/>
        </p:nvSpPr>
        <p:spPr>
          <a:xfrm>
            <a:off x="9259347" y="-1170882"/>
            <a:ext cx="1030909" cy="2539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86D1828-79E5-84C4-81FF-FE3AE86B9656}"/>
              </a:ext>
            </a:extLst>
          </p:cNvPr>
          <p:cNvSpPr txBox="1"/>
          <p:nvPr/>
        </p:nvSpPr>
        <p:spPr>
          <a:xfrm>
            <a:off x="9218287" y="-1218545"/>
            <a:ext cx="801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Legend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ACD80CD0-3214-A1E7-8B4A-CD0DDF9ED042}"/>
              </a:ext>
            </a:extLst>
          </p:cNvPr>
          <p:cNvSpPr/>
          <p:nvPr/>
        </p:nvSpPr>
        <p:spPr>
          <a:xfrm>
            <a:off x="9296043" y="-385681"/>
            <a:ext cx="1619143" cy="2539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C4F4529-F400-2291-394B-41E8A5A40181}"/>
              </a:ext>
            </a:extLst>
          </p:cNvPr>
          <p:cNvSpPr txBox="1"/>
          <p:nvPr/>
        </p:nvSpPr>
        <p:spPr>
          <a:xfrm>
            <a:off x="9224503" y="-433344"/>
            <a:ext cx="21059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Forest Utilization Zone</a:t>
            </a:r>
          </a:p>
        </p:txBody>
      </p:sp>
    </p:spTree>
    <p:extLst>
      <p:ext uri="{BB962C8B-B14F-4D97-AF65-F5344CB8AC3E}">
        <p14:creationId xmlns:p14="http://schemas.microsoft.com/office/powerpoint/2010/main" val="1964670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019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9F18F-D098-9252-5DA1-FDE83E7C8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an eligible oil palm extent potentials within supply chain catchment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FCE92-BDC7-D843-79AB-37C4EA4958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FFB should be transported to mill within 8 hours once it’s harvested to preserve its quality</a:t>
            </a:r>
          </a:p>
          <a:p>
            <a:r>
              <a:rPr lang="en-US" dirty="0"/>
              <a:t>Oil palm plantation must satisfy these traceability criteria to be eligible as deforestation-free:</a:t>
            </a:r>
          </a:p>
          <a:p>
            <a:pPr lvl="1"/>
            <a:r>
              <a:rPr lang="en-US" dirty="0"/>
              <a:t>Outside forest area</a:t>
            </a:r>
          </a:p>
          <a:p>
            <a:pPr lvl="1"/>
            <a:r>
              <a:rPr lang="en-US" dirty="0"/>
              <a:t>Outside peatland</a:t>
            </a:r>
          </a:p>
          <a:p>
            <a:pPr lvl="1"/>
            <a:r>
              <a:rPr lang="en-US" dirty="0"/>
              <a:t>Outside riparian zone</a:t>
            </a:r>
          </a:p>
          <a:p>
            <a:pPr lvl="1"/>
            <a:r>
              <a:rPr lang="en-US" dirty="0"/>
              <a:t>Comply with the cut-off </a:t>
            </a:r>
            <a:r>
              <a:rPr lang="en-US" dirty="0" err="1"/>
              <a:t>landuse</a:t>
            </a:r>
            <a:r>
              <a:rPr lang="en-US" dirty="0"/>
              <a:t> conversion regulation (November 2005 for RSPO, December 2020 for EUDR)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332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B07FC-872D-9886-8835-B63CF33B3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How do a mill be able to comply with such regulation, and meet its production capacity?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CC216-CCD8-A76A-F119-2CB0B1FB6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Deforestation free product are meant to premium buyer</a:t>
            </a:r>
          </a:p>
          <a:p>
            <a:r>
              <a:rPr lang="en-US" dirty="0"/>
              <a:t>Deforestation free products don’t define quality. They promote sustainability by limiting any expansion of forest degradation, which is good.</a:t>
            </a:r>
          </a:p>
          <a:p>
            <a:r>
              <a:rPr lang="en-US" dirty="0"/>
              <a:t>Good agricultural practice resulting better product quality, tackle any inefficient cost, while promoting sustainability.</a:t>
            </a:r>
          </a:p>
          <a:p>
            <a:r>
              <a:rPr lang="en-US" dirty="0"/>
              <a:t>All sources of FFB producer must be traced for its eligibility</a:t>
            </a:r>
          </a:p>
          <a:p>
            <a:r>
              <a:rPr lang="en-US" dirty="0"/>
              <a:t>Any FFB producers that’s not satisfy the criteria are suggested to conduct conservation activity as compensation. If only they insist to access premium buyer.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779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9266B-A072-10B6-C5CC-2906F9166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Accessibility model to nearby oil palm mill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4144B-720D-A33F-D094-85EC4F04D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Calculate travel time of every plantation site to nearby mills. Considering transportation modes, road quality, average speed, and barrier.</a:t>
            </a:r>
          </a:p>
          <a:p>
            <a:r>
              <a:rPr lang="en-US" dirty="0"/>
              <a:t>Depict more realistic extent compared to ring buffer with designated radius.</a:t>
            </a:r>
          </a:p>
        </p:txBody>
      </p:sp>
    </p:spTree>
    <p:extLst>
      <p:ext uri="{BB962C8B-B14F-4D97-AF65-F5344CB8AC3E}">
        <p14:creationId xmlns:p14="http://schemas.microsoft.com/office/powerpoint/2010/main" val="1828561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F727D-A6EC-638F-E9BD-EF9EC918A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eligible oil palm extent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BE960-992E-490C-18CC-D90733C0ED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Spatial analysis (AHP/binary)</a:t>
            </a:r>
          </a:p>
          <a:p>
            <a:r>
              <a:rPr lang="en-US" dirty="0"/>
              <a:t>Data:</a:t>
            </a:r>
          </a:p>
          <a:p>
            <a:pPr lvl="1"/>
            <a:r>
              <a:rPr lang="en-US" dirty="0"/>
              <a:t>Existing oil palm extent (</a:t>
            </a:r>
            <a:r>
              <a:rPr lang="en-US" dirty="0" err="1"/>
              <a:t>MapBiomass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Forest/conservation zone (Forestry Government)</a:t>
            </a:r>
          </a:p>
          <a:p>
            <a:pPr lvl="1"/>
            <a:r>
              <a:rPr lang="en-US" dirty="0"/>
              <a:t>Peatland (Forestry Government)</a:t>
            </a:r>
          </a:p>
          <a:p>
            <a:pPr lvl="1"/>
            <a:r>
              <a:rPr lang="en-US" dirty="0"/>
              <a:t>Riparian zone (OpenStreetMap)</a:t>
            </a:r>
          </a:p>
          <a:p>
            <a:pPr lvl="1"/>
            <a:r>
              <a:rPr lang="en-US" dirty="0"/>
              <a:t>Land subject permit (Forestry Government)</a:t>
            </a:r>
          </a:p>
          <a:p>
            <a:pPr lvl="1"/>
            <a:r>
              <a:rPr lang="en-US" dirty="0"/>
              <a:t>Plantation year (Sentinel)</a:t>
            </a:r>
          </a:p>
        </p:txBody>
      </p:sp>
    </p:spTree>
    <p:extLst>
      <p:ext uri="{BB962C8B-B14F-4D97-AF65-F5344CB8AC3E}">
        <p14:creationId xmlns:p14="http://schemas.microsoft.com/office/powerpoint/2010/main" val="2974466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CB3F6-B542-49B5-C016-8DC80DF50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Eligible oil palm within supply catchment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300BE-3C2A-53A8-408E-9364C44E6A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8-10 hours drive catchment area</a:t>
            </a:r>
          </a:p>
          <a:p>
            <a:r>
              <a:rPr lang="en-US" dirty="0"/>
              <a:t>Eligible oil palm extent</a:t>
            </a:r>
          </a:p>
          <a:p>
            <a:r>
              <a:rPr lang="en-US" dirty="0"/>
              <a:t>Administrative boundary</a:t>
            </a:r>
          </a:p>
          <a:p>
            <a:r>
              <a:rPr lang="en-US" dirty="0"/>
              <a:t>Land plot subject</a:t>
            </a:r>
          </a:p>
        </p:txBody>
      </p:sp>
    </p:spTree>
    <p:extLst>
      <p:ext uri="{BB962C8B-B14F-4D97-AF65-F5344CB8AC3E}">
        <p14:creationId xmlns:p14="http://schemas.microsoft.com/office/powerpoint/2010/main" val="2742412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ABA81-70DC-4545-3C03-F1CBFCE6F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Mill Dominance Rivalry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97CC6-9592-BD5F-147A-88ACC9052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Mills must meet the daily production capacity to prevent productivity loss</a:t>
            </a:r>
          </a:p>
          <a:p>
            <a:r>
              <a:rPr lang="en-US" dirty="0"/>
              <a:t>Intersection of supply catchment between nearby mills</a:t>
            </a:r>
          </a:p>
          <a:p>
            <a:r>
              <a:rPr lang="en-US" dirty="0"/>
              <a:t>Producers tend to look after better price</a:t>
            </a:r>
          </a:p>
        </p:txBody>
      </p:sp>
    </p:spTree>
    <p:extLst>
      <p:ext uri="{BB962C8B-B14F-4D97-AF65-F5344CB8AC3E}">
        <p14:creationId xmlns:p14="http://schemas.microsoft.com/office/powerpoint/2010/main" val="4186701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1015</TotalTime>
  <Words>347</Words>
  <Application>Microsoft Office PowerPoint</Application>
  <PresentationFormat>Widescreen</PresentationFormat>
  <Paragraphs>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Segoe UI</vt:lpstr>
      <vt:lpstr>Office Theme</vt:lpstr>
      <vt:lpstr>PowerPoint Presentation</vt:lpstr>
      <vt:lpstr>PowerPoint Presentation</vt:lpstr>
      <vt:lpstr>Find an eligible oil palm extent potentials within supply chain catchment</vt:lpstr>
      <vt:lpstr>How do a mill be able to comply with such regulation, and meet its production capacity?</vt:lpstr>
      <vt:lpstr>Accessibility model to nearby oil palm mill</vt:lpstr>
      <vt:lpstr>Accessing eligible oil palm extent</vt:lpstr>
      <vt:lpstr>Eligible oil palm within supply catchment</vt:lpstr>
      <vt:lpstr>Mill Dominance Rivalry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nana wijaya</dc:creator>
  <cp:lastModifiedBy>nana wijaya</cp:lastModifiedBy>
  <cp:revision>1</cp:revision>
  <dcterms:created xsi:type="dcterms:W3CDTF">2026-07-23T11:10:23Z</dcterms:created>
  <dcterms:modified xsi:type="dcterms:W3CDTF">2026-07-24T04:05:57Z</dcterms:modified>
</cp:coreProperties>
</file>